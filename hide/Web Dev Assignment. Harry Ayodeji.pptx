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5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tableStyles" Target="tableStyle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0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1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354724" y="-349583"/>
            <a:ext cx="10515600" cy="1325563"/>
          </a:xfrm>
        </p:spPr>
        <p:txBody>
          <a:bodyPr>
            <a:normAutofit/>
          </a:bodyPr>
          <a:p>
            <a:r>
              <a:rPr b="1" dirty="0" sz="3200" lang="en-US" err="1">
                <a:latin typeface="Palatino Linotype" panose="02040502050505030304" pitchFamily="18" charset="0"/>
              </a:rPr>
              <a:t>Prioritising</a:t>
            </a:r>
            <a:r>
              <a:rPr b="1" dirty="0" sz="3200" lang="en-US">
                <a:latin typeface="Palatino Linotype" panose="02040502050505030304" pitchFamily="18" charset="0"/>
              </a:rPr>
              <a:t> Assumptions</a:t>
            </a: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326028" y="675911"/>
          <a:ext cx="10562895" cy="54785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729654"/>
                <a:gridCol w="3021724"/>
                <a:gridCol w="2811517"/>
              </a:tblGrid>
              <a:tr h="1077828">
                <a:tc>
                  <a:txBody>
                    <a:bodyPr/>
                    <a:p>
                      <a:pPr algn="ctr"/>
                      <a:r>
                        <a:rPr dirty="0" sz="1800" lang="en-AU"/>
                        <a:t>Assumptions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AU"/>
                        <a:t>Importance - </a:t>
                      </a:r>
                      <a:r>
                        <a:rPr dirty="0" sz="1400" lang="en-IN"/>
                        <a:t>If we get this wrong, how likely will we fail? </a:t>
                      </a:r>
                      <a:r>
                        <a:rPr dirty="0" sz="1400" lang="en-AU"/>
                        <a:t>(0 – 10) 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AU"/>
                        <a:t>Risk - </a:t>
                      </a:r>
                      <a:r>
                        <a:rPr dirty="0" sz="1400" lang="en-IN"/>
                        <a:t>How much do I really know about this? </a:t>
                      </a:r>
                      <a:r>
                        <a:rPr dirty="0" sz="1400" lang="en-AU"/>
                        <a:t>(0 – 10) </a:t>
                      </a:r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sz="1800" lang="en-AU">
                          <a:latin typeface="Calibri"/>
                        </a:rPr>
                        <a:t>1. </a:t>
                      </a:r>
                      <a:r>
                        <a:rPr dirty="0" sz="1800" lang="en-US">
                          <a:latin typeface="Calibri"/>
                        </a:rPr>
                        <a:t>D</a:t>
                      </a:r>
                      <a:r>
                        <a:rPr dirty="0" sz="1800" lang="en-US">
                          <a:latin typeface="Calibri"/>
                        </a:rPr>
                        <a:t>o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p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eople regularly need to send small packages to other people within their city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?</a:t>
                      </a:r>
                      <a:endParaRPr dirty="0" sz="1800" lang="en-AU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altLang="en" dirty="0" lang="en-US"/>
                        <a:t>9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altLang="en-US" dirty="0" lang="en-US"/>
                        <a:t>3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pPr algn="l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800" lang="en-AU">
                          <a:latin typeface="Calibri"/>
                        </a:rPr>
                        <a:t>2. 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Are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they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willi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p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y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q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u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m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?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ng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?</a:t>
                      </a:r>
                      <a:endParaRPr dirty="0" sz="1800" lang="en-US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8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altLang="en-US" lang="en-US"/>
                        <a:t>7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sz="1800" lang="en-US">
                          <a:latin typeface="Calibri"/>
                        </a:rPr>
                        <a:t>3</a:t>
                      </a:r>
                      <a:r>
                        <a:rPr dirty="0" sz="1800" lang="en-US">
                          <a:latin typeface="Calibri"/>
                        </a:rPr>
                        <a:t>.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W</a:t>
                      </a:r>
                      <a:r>
                        <a:rPr dirty="0" sz="1800" lang="en-US">
                          <a:latin typeface="Calibri"/>
                        </a:rPr>
                        <a:t>i</a:t>
                      </a:r>
                      <a:r>
                        <a:rPr dirty="0" sz="1800" lang="en-US">
                          <a:latin typeface="Calibri"/>
                        </a:rPr>
                        <a:t>l</a:t>
                      </a:r>
                      <a:r>
                        <a:rPr dirty="0" sz="1800" lang="en-US">
                          <a:latin typeface="Calibri"/>
                        </a:rPr>
                        <a:t>l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c</a:t>
                      </a:r>
                      <a:r>
                        <a:rPr dirty="0" sz="1800" lang="en-US">
                          <a:latin typeface="Calibri"/>
                        </a:rPr>
                        <a:t>u</a:t>
                      </a:r>
                      <a:r>
                        <a:rPr dirty="0" sz="1800" lang="en-US">
                          <a:latin typeface="Calibri"/>
                        </a:rPr>
                        <a:t>s</a:t>
                      </a:r>
                      <a:r>
                        <a:rPr dirty="0" sz="1800" lang="en-US">
                          <a:latin typeface="Calibri"/>
                        </a:rPr>
                        <a:t>t</a:t>
                      </a:r>
                      <a:r>
                        <a:rPr dirty="0" sz="1800" lang="en-US">
                          <a:latin typeface="Calibri"/>
                        </a:rPr>
                        <a:t>o</a:t>
                      </a:r>
                      <a:r>
                        <a:rPr dirty="0" sz="1800" lang="en-US">
                          <a:latin typeface="Calibri"/>
                        </a:rPr>
                        <a:t>m</a:t>
                      </a:r>
                      <a:r>
                        <a:rPr dirty="0" sz="1800" lang="en-US">
                          <a:latin typeface="Calibri"/>
                        </a:rPr>
                        <a:t>e</a:t>
                      </a:r>
                      <a:r>
                        <a:rPr dirty="0" sz="1800" lang="en-US">
                          <a:latin typeface="Calibri"/>
                        </a:rPr>
                        <a:t>r</a:t>
                      </a:r>
                      <a:r>
                        <a:rPr dirty="0" sz="1800" lang="en-US">
                          <a:latin typeface="Calibri"/>
                        </a:rPr>
                        <a:t>s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t</a:t>
                      </a:r>
                      <a:r>
                        <a:rPr dirty="0" sz="1800" lang="en-US">
                          <a:latin typeface="Calibri"/>
                        </a:rPr>
                        <a:t>r</a:t>
                      </a:r>
                      <a:r>
                        <a:rPr dirty="0" sz="1800" lang="en-US">
                          <a:latin typeface="Calibri"/>
                        </a:rPr>
                        <a:t>u</a:t>
                      </a:r>
                      <a:r>
                        <a:rPr dirty="0" sz="1800" lang="en-US">
                          <a:latin typeface="Calibri"/>
                        </a:rPr>
                        <a:t>s</a:t>
                      </a:r>
                      <a:r>
                        <a:rPr dirty="0" sz="1800" lang="en-US">
                          <a:latin typeface="Calibri"/>
                        </a:rPr>
                        <a:t>t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t</a:t>
                      </a:r>
                      <a:r>
                        <a:rPr dirty="0" sz="1800" lang="en-US">
                          <a:latin typeface="Calibri"/>
                        </a:rPr>
                        <a:t>o</a:t>
                      </a:r>
                      <a:r>
                        <a:rPr dirty="0" sz="1800" lang="en-US">
                          <a:latin typeface="Calibri"/>
                        </a:rPr>
                        <a:t>t</a:t>
                      </a:r>
                      <a:r>
                        <a:rPr dirty="0" sz="1800" lang="en-US">
                          <a:latin typeface="Calibri"/>
                        </a:rPr>
                        <a:t>a</a:t>
                      </a:r>
                      <a:r>
                        <a:rPr dirty="0" sz="1800" lang="en-US">
                          <a:latin typeface="Calibri"/>
                        </a:rPr>
                        <a:t>l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s</a:t>
                      </a:r>
                      <a:r>
                        <a:rPr dirty="0" sz="1800" lang="en-US">
                          <a:latin typeface="Calibri"/>
                        </a:rPr>
                        <a:t>t</a:t>
                      </a:r>
                      <a:r>
                        <a:rPr dirty="0" sz="1800" lang="en-US">
                          <a:latin typeface="Calibri"/>
                        </a:rPr>
                        <a:t>r</a:t>
                      </a:r>
                      <a:r>
                        <a:rPr dirty="0" sz="1800" lang="en-US">
                          <a:latin typeface="Calibri"/>
                        </a:rPr>
                        <a:t>a</a:t>
                      </a:r>
                      <a:r>
                        <a:rPr dirty="0" sz="1800" lang="en-US">
                          <a:latin typeface="Calibri"/>
                        </a:rPr>
                        <a:t>n</a:t>
                      </a:r>
                      <a:r>
                        <a:rPr dirty="0" sz="1800" lang="en-US">
                          <a:latin typeface="Calibri"/>
                        </a:rPr>
                        <a:t>g</a:t>
                      </a:r>
                      <a:r>
                        <a:rPr dirty="0" sz="1800" lang="en-US">
                          <a:latin typeface="Calibri"/>
                        </a:rPr>
                        <a:t>e</a:t>
                      </a:r>
                      <a:r>
                        <a:rPr dirty="0" sz="1800" lang="en-US">
                          <a:latin typeface="Calibri"/>
                        </a:rPr>
                        <a:t>r</a:t>
                      </a:r>
                      <a:r>
                        <a:rPr dirty="0" sz="1800" lang="en-US">
                          <a:latin typeface="Calibri"/>
                        </a:rPr>
                        <a:t>s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t</a:t>
                      </a:r>
                      <a:r>
                        <a:rPr dirty="0" sz="1800" lang="en-US">
                          <a:latin typeface="Calibri"/>
                        </a:rPr>
                        <a:t>o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transport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t</a:t>
                      </a:r>
                      <a:r>
                        <a:rPr dirty="0" sz="1800" lang="en-US">
                          <a:latin typeface="Calibri"/>
                        </a:rPr>
                        <a:t>h</a:t>
                      </a:r>
                      <a:r>
                        <a:rPr dirty="0" sz="1800" lang="en-US">
                          <a:latin typeface="Calibri"/>
                        </a:rPr>
                        <a:t>e</a:t>
                      </a:r>
                      <a:r>
                        <a:rPr dirty="0" sz="1800" lang="en-US">
                          <a:latin typeface="Calibri"/>
                        </a:rPr>
                        <a:t>i</a:t>
                      </a:r>
                      <a:r>
                        <a:rPr dirty="0" sz="1800" lang="en-US">
                          <a:latin typeface="Calibri"/>
                        </a:rPr>
                        <a:t>r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p</a:t>
                      </a:r>
                      <a:r>
                        <a:rPr dirty="0" sz="1800" lang="en-US">
                          <a:latin typeface="Calibri"/>
                        </a:rPr>
                        <a:t>a</a:t>
                      </a:r>
                      <a:r>
                        <a:rPr dirty="0" sz="1800" lang="en-US">
                          <a:latin typeface="Calibri"/>
                        </a:rPr>
                        <a:t>c</a:t>
                      </a:r>
                      <a:r>
                        <a:rPr dirty="0" sz="1800" lang="en-US">
                          <a:latin typeface="Calibri"/>
                        </a:rPr>
                        <a:t>k</a:t>
                      </a:r>
                      <a:r>
                        <a:rPr dirty="0" sz="1800" lang="en-US">
                          <a:latin typeface="Calibri"/>
                        </a:rPr>
                        <a:t>a</a:t>
                      </a:r>
                      <a:r>
                        <a:rPr dirty="0" sz="1800" lang="en-US">
                          <a:latin typeface="Calibri"/>
                        </a:rPr>
                        <a:t>g</a:t>
                      </a:r>
                      <a:r>
                        <a:rPr dirty="0" sz="1800" lang="en-US">
                          <a:latin typeface="Calibri"/>
                        </a:rPr>
                        <a:t>e</a:t>
                      </a:r>
                      <a:r>
                        <a:rPr dirty="0" sz="1800" lang="en-US">
                          <a:latin typeface="Calibri"/>
                        </a:rPr>
                        <a:t>s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w</a:t>
                      </a:r>
                      <a:r>
                        <a:rPr dirty="0" sz="1800" lang="en-US">
                          <a:latin typeface="Calibri"/>
                        </a:rPr>
                        <a:t>i</a:t>
                      </a:r>
                      <a:r>
                        <a:rPr dirty="0" sz="1800" lang="en-US">
                          <a:latin typeface="Calibri"/>
                        </a:rPr>
                        <a:t>t</a:t>
                      </a:r>
                      <a:r>
                        <a:rPr dirty="0" sz="1800" lang="en-US">
                          <a:latin typeface="Calibri"/>
                        </a:rPr>
                        <a:t>h</a:t>
                      </a:r>
                      <a:r>
                        <a:rPr dirty="0" sz="1800" lang="en-US">
                          <a:latin typeface="Calibri"/>
                        </a:rPr>
                        <a:t>out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b</a:t>
                      </a:r>
                      <a:r>
                        <a:rPr dirty="0" sz="1800" lang="en-US">
                          <a:latin typeface="Calibri"/>
                        </a:rPr>
                        <a:t>e</a:t>
                      </a:r>
                      <a:r>
                        <a:rPr dirty="0" sz="1800" lang="en-US">
                          <a:latin typeface="Calibri"/>
                        </a:rPr>
                        <a:t>i</a:t>
                      </a:r>
                      <a:r>
                        <a:rPr dirty="0" sz="1800" lang="en-US">
                          <a:latin typeface="Calibri"/>
                        </a:rPr>
                        <a:t>n</a:t>
                      </a:r>
                      <a:r>
                        <a:rPr dirty="0" sz="1800" lang="en-US">
                          <a:latin typeface="Calibri"/>
                        </a:rPr>
                        <a:t>g</a:t>
                      </a:r>
                      <a:r>
                        <a:rPr dirty="0" sz="1800" lang="en-US">
                          <a:latin typeface="Calibri"/>
                        </a:rPr>
                        <a:t> </a:t>
                      </a:r>
                      <a:r>
                        <a:rPr dirty="0" sz="1800" lang="en-US">
                          <a:latin typeface="Calibri"/>
                        </a:rPr>
                        <a:t>s</a:t>
                      </a:r>
                      <a:r>
                        <a:rPr dirty="0" sz="1800" lang="en-US">
                          <a:latin typeface="Calibri"/>
                        </a:rPr>
                        <a:t>k</a:t>
                      </a:r>
                      <a:r>
                        <a:rPr dirty="0" sz="1800" lang="en-US">
                          <a:latin typeface="Calibri"/>
                        </a:rPr>
                        <a:t>e</a:t>
                      </a:r>
                      <a:r>
                        <a:rPr dirty="0" sz="1800" lang="en-US">
                          <a:latin typeface="Calibri"/>
                        </a:rPr>
                        <a:t>p</a:t>
                      </a:r>
                      <a:r>
                        <a:rPr dirty="0" sz="1800" lang="en-US">
                          <a:latin typeface="Calibri"/>
                        </a:rPr>
                        <a:t>tical</a:t>
                      </a:r>
                      <a:r>
                        <a:rPr dirty="0" sz="1800" lang="en-US">
                          <a:latin typeface="Calibri"/>
                        </a:rPr>
                        <a:t>?</a:t>
                      </a:r>
                      <a:endParaRPr dirty="0" sz="1800" lang="en-AU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altLang="en-US" lang="en-US"/>
                        <a:t>4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US"/>
                        <a:t>3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sz="1800" lang="en-AU">
                          <a:latin typeface="Calibri"/>
                        </a:rPr>
                        <a:t>4. 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p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ry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q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u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p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p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p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?</a:t>
                      </a:r>
                      <a:endParaRPr dirty="0" sz="1800" lang="en-AU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altLang="en-US" lang="en-US"/>
                        <a:t>7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US"/>
                        <a:t>5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convenience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?</a:t>
                      </a:r>
                      <a:endParaRPr b="0" sz="1800" lang="en-AU">
                        <a:solidFill>
                          <a:schemeClr val="tx1"/>
                        </a:solidFill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altLang="en-US" lang="en-US"/>
                        <a:t>8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US"/>
                        <a:t>3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Does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RiI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'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bi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centered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z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?</a:t>
                      </a:r>
                      <a:endParaRPr b="0" dirty="0" sz="1800" lang="en-AU">
                        <a:solidFill>
                          <a:schemeClr val="tx1"/>
                        </a:solidFill>
                      </a:endParaRPr>
                    </a:p>
                  </a:txBody>
                </a:tc>
                <a:tc>
                  <a:txBody>
                    <a:bodyPr/>
                    <a:p>
                      <a:endParaRPr altLang="en-US" lang="zh-CN"/>
                    </a:p>
                    <a:p>
                      <a:r>
                        <a:rPr altLang="en-US" lang="en-US"/>
                        <a:t>6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endParaRPr altLang="en-US" lang="zh-CN"/>
                    </a:p>
                    <a:p>
                      <a:r>
                        <a:rPr altLang="en-US" lang="en-US"/>
                        <a:t>4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pPr lvl="0">
                        <a:buNone/>
                      </a:pPr>
                      <a:endParaRPr dirty="0" lang="en-AU"/>
                    </a:p>
                  </a:txBody>
                </a:tc>
                <a:tc>
                  <a:txBody>
                    <a:bodyPr/>
                    <a:p/>
                  </a:txBody>
                </a:tc>
                <a:tc>
                  <a:txBody>
                    <a:bodyPr/>
                    <a:p/>
                  </a:txBody>
                </a:tc>
              </a:tr>
              <a:tr h="550096">
                <a:tc>
                  <a:txBody>
                    <a:bodyPr/>
                    <a:lstStyle/>
                    <a:p>
                      <a:endParaRPr altLang="en-US" lang="en-US"/>
                    </a:p>
                  </a:txBody>
                </a:tc>
                <a:tc>
                  <a:txBody>
                    <a:bodyPr/>
                    <a:lstStyle/>
                    <a:p>
                      <a:endParaRPr altLang="en-US" lang="en-US"/>
                    </a:p>
                  </a:txBody>
                </a:tc>
                <a:tc>
                  <a:txBody>
                    <a:bodyPr/>
                    <a:lstStyle/>
                    <a:p>
                      <a:endParaRPr altLang="en-US" lang="en-US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>
          <a:xfrm>
            <a:off x="325776" y="228491"/>
            <a:ext cx="3870435" cy="717440"/>
          </a:xfrm>
        </p:spPr>
        <p:txBody>
          <a:bodyPr>
            <a:normAutofit/>
          </a:bodyPr>
          <a:p>
            <a:r>
              <a:rPr b="1" dirty="0" sz="2800" lang="en-US">
                <a:latin typeface="Palatino Linotype" panose="02040502050505030304" pitchFamily="18" charset="0"/>
              </a:rPr>
              <a:t>Risk Importance Graph</a:t>
            </a:r>
          </a:p>
        </p:txBody>
      </p:sp>
      <p:grpSp>
        <p:nvGrpSpPr>
          <p:cNvPr id="20" name="Group 27"/>
          <p:cNvGrpSpPr/>
          <p:nvPr/>
        </p:nvGrpSpPr>
        <p:grpSpPr>
          <a:xfrm>
            <a:off x="531984" y="478017"/>
            <a:ext cx="10588162" cy="6151492"/>
            <a:chOff x="342797" y="660681"/>
            <a:chExt cx="10588162" cy="6151492"/>
          </a:xfrm>
        </p:grpSpPr>
        <p:cxnSp>
          <p:nvCxnSpPr>
            <p:cNvPr id="3145728" name="Straight Arrow Connector 3"/>
            <p:cNvCxnSpPr>
              <a:cxnSpLocks/>
            </p:cNvCxnSpPr>
            <p:nvPr/>
          </p:nvCxnSpPr>
          <p:spPr>
            <a:xfrm>
              <a:off x="5922579" y="1030013"/>
              <a:ext cx="0" cy="5412828"/>
            </a:xfrm>
            <a:prstGeom prst="straightConnector1"/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29" name="Straight Arrow Connector 9"/>
            <p:cNvCxnSpPr>
              <a:cxnSpLocks/>
            </p:cNvCxnSpPr>
            <p:nvPr/>
          </p:nvCxnSpPr>
          <p:spPr>
            <a:xfrm flipH="1">
              <a:off x="1555531" y="3694386"/>
              <a:ext cx="9212317" cy="0"/>
            </a:xfrm>
            <a:prstGeom prst="straightConnector1"/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48588" name="TextBox 16"/>
            <p:cNvSpPr txBox="1"/>
            <p:nvPr/>
          </p:nvSpPr>
          <p:spPr>
            <a:xfrm>
              <a:off x="1618593" y="3694386"/>
              <a:ext cx="337942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89" name="TextBox 17"/>
            <p:cNvSpPr txBox="1"/>
            <p:nvPr/>
          </p:nvSpPr>
          <p:spPr>
            <a:xfrm>
              <a:off x="5931480" y="1030013"/>
              <a:ext cx="337942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90" name="TextBox 18"/>
            <p:cNvSpPr txBox="1"/>
            <p:nvPr/>
          </p:nvSpPr>
          <p:spPr>
            <a:xfrm>
              <a:off x="10289628" y="3694386"/>
              <a:ext cx="452750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10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91" name="TextBox 19"/>
            <p:cNvSpPr txBox="1"/>
            <p:nvPr/>
          </p:nvSpPr>
          <p:spPr>
            <a:xfrm>
              <a:off x="5963009" y="6073510"/>
              <a:ext cx="448297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10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92" name="TextBox 20"/>
            <p:cNvSpPr txBox="1"/>
            <p:nvPr/>
          </p:nvSpPr>
          <p:spPr>
            <a:xfrm>
              <a:off x="5371401" y="6442841"/>
              <a:ext cx="1012422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solidFill>
                    <a:schemeClr val="accent2"/>
                  </a:solidFill>
                  <a:latin typeface="Avenir Book" panose="02000503020000020003" pitchFamily="2" charset="0"/>
                </a:rPr>
                <a:t>Known</a:t>
              </a:r>
              <a:endParaRPr dirty="0" lang="en-US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3" name="TextBox 21"/>
            <p:cNvSpPr txBox="1"/>
            <p:nvPr/>
          </p:nvSpPr>
          <p:spPr>
            <a:xfrm>
              <a:off x="5445375" y="660681"/>
              <a:ext cx="1153508" cy="358140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solidFill>
                    <a:schemeClr val="accent2"/>
                  </a:solidFill>
                  <a:latin typeface="Avenir Book" panose="02000503020000020003" pitchFamily="2" charset="0"/>
                </a:rPr>
                <a:t>Unknown</a:t>
              </a:r>
              <a:endParaRPr dirty="0" lang="en-US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4" name="TextBox 22"/>
            <p:cNvSpPr txBox="1"/>
            <p:nvPr/>
          </p:nvSpPr>
          <p:spPr>
            <a:xfrm>
              <a:off x="9661435" y="4017579"/>
              <a:ext cx="1269524" cy="369332"/>
            </a:xfrm>
            <a:prstGeom prst="rect"/>
            <a:noFill/>
          </p:spPr>
          <p:txBody>
            <a:bodyPr anchor="t" bIns="45720" lIns="91440" rIns="91440" tIns="45720" wrap="square">
              <a:spAutoFit/>
            </a:bodyPr>
            <a:p>
              <a:r>
                <a:rPr dirty="0" lang="en-IN">
                  <a:solidFill>
                    <a:schemeClr val="accent5">
                      <a:lumMod val="75000"/>
                    </a:schemeClr>
                  </a:solidFill>
                  <a:latin typeface="Avenir Book"/>
                </a:rPr>
                <a:t>Important</a:t>
              </a:r>
              <a:endParaRPr dirty="0" lang="en-US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5" name="TextBox 23"/>
            <p:cNvSpPr txBox="1"/>
            <p:nvPr/>
          </p:nvSpPr>
          <p:spPr>
            <a:xfrm>
              <a:off x="342797" y="3244334"/>
              <a:ext cx="1528043" cy="624839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solidFill>
                    <a:schemeClr val="accent5">
                      <a:lumMod val="75000"/>
                    </a:schemeClr>
                  </a:solidFill>
                  <a:latin typeface="Avenir Book" panose="02000503020000020003" pitchFamily="2" charset="0"/>
                </a:rPr>
                <a:t>Not Important</a:t>
              </a:r>
              <a:endParaRPr dirty="0" lang="en-US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sp>
        <p:nvSpPr>
          <p:cNvPr id="1048596" name="TextBox 28"/>
          <p:cNvSpPr txBox="1"/>
          <p:nvPr/>
        </p:nvSpPr>
        <p:spPr>
          <a:xfrm>
            <a:off x="178276" y="6214010"/>
            <a:ext cx="1566442" cy="461665"/>
          </a:xfrm>
          <a:prstGeom prst="rect"/>
          <a:noFill/>
        </p:spPr>
        <p:txBody>
          <a:bodyPr wrap="square">
            <a:spAutoFit/>
          </a:bodyPr>
          <a:p>
            <a:r>
              <a:rPr dirty="0" sz="1200" lang="en-IN">
                <a:latin typeface="Avenir Book" panose="02000503020000020003" pitchFamily="2" charset="0"/>
              </a:rPr>
              <a:t>X axis - </a:t>
            </a:r>
            <a:r>
              <a:rPr dirty="0" sz="1200" lang="en-IN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rPr>
              <a:t>Importance</a:t>
            </a:r>
          </a:p>
          <a:p>
            <a:r>
              <a:rPr dirty="0" sz="1200" lang="en-IN">
                <a:latin typeface="Avenir Book" panose="02000503020000020003" pitchFamily="2" charset="0"/>
              </a:rPr>
              <a:t>Y axis - </a:t>
            </a:r>
            <a:r>
              <a:rPr dirty="0" sz="1200" lang="en-IN">
                <a:solidFill>
                  <a:schemeClr val="accent2">
                    <a:lumMod val="75000"/>
                  </a:schemeClr>
                </a:solidFill>
                <a:latin typeface="Avenir Book" panose="02000503020000020003" pitchFamily="2" charset="0"/>
              </a:rPr>
              <a:t>Risk</a:t>
            </a:r>
            <a:r>
              <a:rPr dirty="0" sz="1200" lang="en-IN">
                <a:latin typeface="Avenir Book" panose="02000503020000020003" pitchFamily="2" charset="0"/>
              </a:rPr>
              <a:t> </a:t>
            </a:r>
            <a:endParaRPr dirty="0" sz="1200" lang="en-US">
              <a:latin typeface="Avenir Book" panose="02000503020000020003" pitchFamily="2" charset="0"/>
            </a:endParaRPr>
          </a:p>
        </p:txBody>
      </p:sp>
      <p:sp>
        <p:nvSpPr>
          <p:cNvPr id="1048598" name="Speech Bubble: Rectangle 32"/>
          <p:cNvSpPr/>
          <p:nvPr/>
        </p:nvSpPr>
        <p:spPr>
          <a:xfrm>
            <a:off x="3148436" y="4834861"/>
            <a:ext cx="1845616" cy="1213640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pPr algn="ctr"/>
            <a:r>
              <a:rPr dirty="0" sz="1200" lang="en-US">
                <a:ea typeface="Calibri"/>
                <a:cs typeface="Calibri"/>
              </a:rPr>
              <a:t>Will customers trust total strangers to transport their packages without being skeptical?</a:t>
            </a:r>
            <a:endParaRPr dirty="0" sz="1200" lang="en-AU">
              <a:ea typeface="Calibri"/>
              <a:cs typeface="Calibri"/>
            </a:endParaRPr>
          </a:p>
        </p:txBody>
      </p:sp>
      <p:sp>
        <p:nvSpPr>
          <p:cNvPr id="1048599" name="Speech Bubble: Rectangle 33"/>
          <p:cNvSpPr/>
          <p:nvPr/>
        </p:nvSpPr>
        <p:spPr>
          <a:xfrm>
            <a:off x="8207887" y="2083328"/>
            <a:ext cx="1825556" cy="978341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W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i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l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l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r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i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d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e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r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s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b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e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w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i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l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l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i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n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g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t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o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a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c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c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e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p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t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d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e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l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i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v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e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ry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r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e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q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u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e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s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t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s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a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t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p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r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o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p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o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s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e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d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 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p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r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i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c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e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s</a:t>
            </a:r>
            <a:r>
              <a:rPr altLang="en" b="0" dirty="0" sz="1200" i="0" lang="en-US" noProof="0" strike="noStrike" u="none">
                <a:solidFill>
                  <a:srgbClr val="000000"/>
                </a:solidFill>
                <a:latin typeface="Calibri"/>
              </a:rPr>
              <a:t>?</a:t>
            </a:r>
            <a:endParaRPr sz="1200" lang="en-AU">
              <a:ea typeface="Calibri"/>
              <a:cs typeface="Calibri"/>
            </a:endParaRPr>
          </a:p>
        </p:txBody>
      </p:sp>
      <p:sp>
        <p:nvSpPr>
          <p:cNvPr id="1048600" name="Speech Bubble: Rectangle 35"/>
          <p:cNvSpPr/>
          <p:nvPr/>
        </p:nvSpPr>
        <p:spPr>
          <a:xfrm>
            <a:off x="8952057" y="945931"/>
            <a:ext cx="2162772" cy="1150991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Are they willing to pay the required rate for an on demand service? Instead of bargaining with  other channels for lower cost?</a:t>
            </a:r>
            <a:endParaRPr dirty="0" sz="1200" lang="en-AU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048601" name="Speech Bubble: Rectangle 36"/>
          <p:cNvSpPr/>
          <p:nvPr/>
        </p:nvSpPr>
        <p:spPr>
          <a:xfrm>
            <a:off x="9455023" y="4249306"/>
            <a:ext cx="2377699" cy="899395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b="0" dirty="0" sz="1200" lang="en-US">
                <a:solidFill>
                  <a:schemeClr val="tx1"/>
                </a:solidFill>
              </a:rPr>
              <a:t>D</a:t>
            </a:r>
            <a:r>
              <a:rPr b="0" dirty="0" sz="1200" lang="en-US">
                <a:solidFill>
                  <a:schemeClr val="tx1"/>
                </a:solidFill>
              </a:rPr>
              <a:t>o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c</a:t>
            </a:r>
            <a:r>
              <a:rPr b="0" dirty="0" sz="1200" lang="en-US">
                <a:solidFill>
                  <a:schemeClr val="tx1"/>
                </a:solidFill>
              </a:rPr>
              <a:t>u</a:t>
            </a:r>
            <a:r>
              <a:rPr b="0" dirty="0" sz="1200" lang="en-US">
                <a:solidFill>
                  <a:schemeClr val="tx1"/>
                </a:solidFill>
              </a:rPr>
              <a:t>s</a:t>
            </a:r>
            <a:r>
              <a:rPr b="0" dirty="0" sz="1200" lang="en-US">
                <a:solidFill>
                  <a:schemeClr val="tx1"/>
                </a:solidFill>
              </a:rPr>
              <a:t>t</a:t>
            </a:r>
            <a:r>
              <a:rPr b="0" dirty="0" sz="1200" lang="en-US">
                <a:solidFill>
                  <a:schemeClr val="tx1"/>
                </a:solidFill>
              </a:rPr>
              <a:t>o</a:t>
            </a:r>
            <a:r>
              <a:rPr b="0" dirty="0" sz="1200" lang="en-US">
                <a:solidFill>
                  <a:schemeClr val="tx1"/>
                </a:solidFill>
              </a:rPr>
              <a:t>m</a:t>
            </a:r>
            <a:r>
              <a:rPr b="0" dirty="0" sz="1200" lang="en-US">
                <a:solidFill>
                  <a:schemeClr val="tx1"/>
                </a:solidFill>
              </a:rPr>
              <a:t>e</a:t>
            </a:r>
            <a:r>
              <a:rPr b="0" dirty="0" sz="1200" lang="en-US">
                <a:solidFill>
                  <a:schemeClr val="tx1"/>
                </a:solidFill>
              </a:rPr>
              <a:t>r</a:t>
            </a:r>
            <a:r>
              <a:rPr b="0" dirty="0" sz="1200" lang="en-US">
                <a:solidFill>
                  <a:schemeClr val="tx1"/>
                </a:solidFill>
              </a:rPr>
              <a:t>s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c</a:t>
            </a:r>
            <a:r>
              <a:rPr b="0" dirty="0" sz="1200" lang="en-US">
                <a:solidFill>
                  <a:schemeClr val="tx1"/>
                </a:solidFill>
              </a:rPr>
              <a:t>a</a:t>
            </a:r>
            <a:r>
              <a:rPr b="0" dirty="0" sz="1200" lang="en-US">
                <a:solidFill>
                  <a:schemeClr val="tx1"/>
                </a:solidFill>
              </a:rPr>
              <a:t>r</a:t>
            </a:r>
            <a:r>
              <a:rPr b="0" dirty="0" sz="1200" lang="en-US">
                <a:solidFill>
                  <a:schemeClr val="tx1"/>
                </a:solidFill>
              </a:rPr>
              <a:t>e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e</a:t>
            </a:r>
            <a:r>
              <a:rPr b="0" dirty="0" sz="1200" lang="en-US">
                <a:solidFill>
                  <a:schemeClr val="tx1"/>
                </a:solidFill>
              </a:rPr>
              <a:t>n</a:t>
            </a:r>
            <a:r>
              <a:rPr b="0" dirty="0" sz="1200" lang="en-US">
                <a:solidFill>
                  <a:schemeClr val="tx1"/>
                </a:solidFill>
              </a:rPr>
              <a:t>o</a:t>
            </a:r>
            <a:r>
              <a:rPr b="0" dirty="0" sz="1200" lang="en-US">
                <a:solidFill>
                  <a:schemeClr val="tx1"/>
                </a:solidFill>
              </a:rPr>
              <a:t>u</a:t>
            </a:r>
            <a:r>
              <a:rPr b="0" dirty="0" sz="1200" lang="en-US">
                <a:solidFill>
                  <a:schemeClr val="tx1"/>
                </a:solidFill>
              </a:rPr>
              <a:t>g</a:t>
            </a:r>
            <a:r>
              <a:rPr b="0" dirty="0" sz="1200" lang="en-US">
                <a:solidFill>
                  <a:schemeClr val="tx1"/>
                </a:solidFill>
              </a:rPr>
              <a:t>h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a</a:t>
            </a:r>
            <a:r>
              <a:rPr b="0" dirty="0" sz="1200" lang="en-US">
                <a:solidFill>
                  <a:schemeClr val="tx1"/>
                </a:solidFill>
              </a:rPr>
              <a:t>b</a:t>
            </a:r>
            <a:r>
              <a:rPr b="0" dirty="0" sz="1200" lang="en-US">
                <a:solidFill>
                  <a:schemeClr val="tx1"/>
                </a:solidFill>
              </a:rPr>
              <a:t>o</a:t>
            </a:r>
            <a:r>
              <a:rPr b="0" dirty="0" sz="1200" lang="en-US">
                <a:solidFill>
                  <a:schemeClr val="tx1"/>
                </a:solidFill>
              </a:rPr>
              <a:t>u</a:t>
            </a:r>
            <a:r>
              <a:rPr b="0" dirty="0" sz="1200" lang="en-US">
                <a:solidFill>
                  <a:schemeClr val="tx1"/>
                </a:solidFill>
              </a:rPr>
              <a:t>t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s</a:t>
            </a:r>
            <a:r>
              <a:rPr b="0" dirty="0" sz="1200" lang="en-US">
                <a:solidFill>
                  <a:schemeClr val="tx1"/>
                </a:solidFill>
              </a:rPr>
              <a:t>p</a:t>
            </a:r>
            <a:r>
              <a:rPr b="0" dirty="0" sz="1200" lang="en-US">
                <a:solidFill>
                  <a:schemeClr val="tx1"/>
                </a:solidFill>
              </a:rPr>
              <a:t>e</a:t>
            </a:r>
            <a:r>
              <a:rPr b="0" dirty="0" sz="1200" lang="en-US">
                <a:solidFill>
                  <a:schemeClr val="tx1"/>
                </a:solidFill>
              </a:rPr>
              <a:t>e</a:t>
            </a:r>
            <a:r>
              <a:rPr b="0" dirty="0" sz="1200" lang="en-US">
                <a:solidFill>
                  <a:schemeClr val="tx1"/>
                </a:solidFill>
              </a:rPr>
              <a:t>d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a</a:t>
            </a:r>
            <a:r>
              <a:rPr b="0" dirty="0" sz="1200" lang="en-US">
                <a:solidFill>
                  <a:schemeClr val="tx1"/>
                </a:solidFill>
              </a:rPr>
              <a:t>n</a:t>
            </a:r>
            <a:r>
              <a:rPr b="0" dirty="0" sz="1200" lang="en-US">
                <a:solidFill>
                  <a:schemeClr val="tx1"/>
                </a:solidFill>
              </a:rPr>
              <a:t>d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convenience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t</a:t>
            </a:r>
            <a:r>
              <a:rPr b="0" dirty="0" sz="1200" lang="en-US">
                <a:solidFill>
                  <a:schemeClr val="tx1"/>
                </a:solidFill>
              </a:rPr>
              <a:t>o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u</a:t>
            </a:r>
            <a:r>
              <a:rPr b="0" dirty="0" sz="1200" lang="en-US">
                <a:solidFill>
                  <a:schemeClr val="tx1"/>
                </a:solidFill>
              </a:rPr>
              <a:t>s</a:t>
            </a:r>
            <a:r>
              <a:rPr b="0" dirty="0" sz="1200" lang="en-US">
                <a:solidFill>
                  <a:schemeClr val="tx1"/>
                </a:solidFill>
              </a:rPr>
              <a:t>e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R</a:t>
            </a:r>
            <a:r>
              <a:rPr b="0" dirty="0" sz="1200" lang="en-US">
                <a:solidFill>
                  <a:schemeClr val="tx1"/>
                </a:solidFill>
              </a:rPr>
              <a:t>I</a:t>
            </a:r>
            <a:r>
              <a:rPr b="0" dirty="0" sz="1200" lang="en-US">
                <a:solidFill>
                  <a:schemeClr val="tx1"/>
                </a:solidFill>
              </a:rPr>
              <a:t>D</a:t>
            </a:r>
            <a:r>
              <a:rPr b="0" dirty="0" sz="1200" lang="en-US">
                <a:solidFill>
                  <a:schemeClr val="tx1"/>
                </a:solidFill>
              </a:rPr>
              <a:t>R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i</a:t>
            </a:r>
            <a:r>
              <a:rPr b="0" dirty="0" sz="1200" lang="en-US">
                <a:solidFill>
                  <a:schemeClr val="tx1"/>
                </a:solidFill>
              </a:rPr>
              <a:t>n</a:t>
            </a:r>
            <a:r>
              <a:rPr b="0" dirty="0" sz="1200" lang="en-US">
                <a:solidFill>
                  <a:schemeClr val="tx1"/>
                </a:solidFill>
              </a:rPr>
              <a:t>s</a:t>
            </a:r>
            <a:r>
              <a:rPr b="0" dirty="0" sz="1200" lang="en-US">
                <a:solidFill>
                  <a:schemeClr val="tx1"/>
                </a:solidFill>
              </a:rPr>
              <a:t>t</a:t>
            </a:r>
            <a:r>
              <a:rPr b="0" dirty="0" sz="1200" lang="en-US">
                <a:solidFill>
                  <a:schemeClr val="tx1"/>
                </a:solidFill>
              </a:rPr>
              <a:t>e</a:t>
            </a:r>
            <a:r>
              <a:rPr b="0" dirty="0" sz="1200" lang="en-US">
                <a:solidFill>
                  <a:schemeClr val="tx1"/>
                </a:solidFill>
              </a:rPr>
              <a:t>a</a:t>
            </a:r>
            <a:r>
              <a:rPr b="0" dirty="0" sz="1200" lang="en-US">
                <a:solidFill>
                  <a:schemeClr val="tx1"/>
                </a:solidFill>
              </a:rPr>
              <a:t>d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o</a:t>
            </a:r>
            <a:r>
              <a:rPr b="0" dirty="0" sz="1200" lang="en-US">
                <a:solidFill>
                  <a:schemeClr val="tx1"/>
                </a:solidFill>
              </a:rPr>
              <a:t>f</a:t>
            </a:r>
            <a:r>
              <a:rPr b="0" dirty="0" sz="1200" lang="en-US">
                <a:solidFill>
                  <a:schemeClr val="tx1"/>
                </a:solidFill>
              </a:rPr>
              <a:t> </a:t>
            </a:r>
            <a:r>
              <a:rPr b="0" dirty="0" sz="1200" lang="en-US">
                <a:solidFill>
                  <a:schemeClr val="tx1"/>
                </a:solidFill>
              </a:rPr>
              <a:t>a</a:t>
            </a:r>
            <a:r>
              <a:rPr b="0" dirty="0" sz="1200" lang="en-US">
                <a:solidFill>
                  <a:schemeClr val="tx1"/>
                </a:solidFill>
              </a:rPr>
              <a:t>l</a:t>
            </a:r>
            <a:r>
              <a:rPr b="0" dirty="0" sz="1200" lang="en-US">
                <a:solidFill>
                  <a:schemeClr val="tx1"/>
                </a:solidFill>
              </a:rPr>
              <a:t>t</a:t>
            </a:r>
            <a:r>
              <a:rPr b="0" dirty="0" sz="1200" lang="en-US">
                <a:solidFill>
                  <a:schemeClr val="tx1"/>
                </a:solidFill>
              </a:rPr>
              <a:t>e</a:t>
            </a:r>
            <a:r>
              <a:rPr b="0" dirty="0" sz="1200" lang="en-US">
                <a:solidFill>
                  <a:schemeClr val="tx1"/>
                </a:solidFill>
              </a:rPr>
              <a:t>r</a:t>
            </a:r>
            <a:r>
              <a:rPr b="0" dirty="0" sz="1200" lang="en-US">
                <a:solidFill>
                  <a:schemeClr val="tx1"/>
                </a:solidFill>
              </a:rPr>
              <a:t>n</a:t>
            </a:r>
            <a:r>
              <a:rPr b="0" dirty="0" sz="1200" lang="en-US">
                <a:solidFill>
                  <a:schemeClr val="tx1"/>
                </a:solidFill>
              </a:rPr>
              <a:t>a</a:t>
            </a:r>
            <a:r>
              <a:rPr b="0" dirty="0" sz="1200" lang="en-US">
                <a:solidFill>
                  <a:schemeClr val="tx1"/>
                </a:solidFill>
              </a:rPr>
              <a:t>t</a:t>
            </a:r>
            <a:r>
              <a:rPr b="0" dirty="0" sz="1200" lang="en-US">
                <a:solidFill>
                  <a:schemeClr val="tx1"/>
                </a:solidFill>
              </a:rPr>
              <a:t>i</a:t>
            </a:r>
            <a:r>
              <a:rPr b="0" dirty="0" sz="1200" lang="en-US">
                <a:solidFill>
                  <a:schemeClr val="tx1"/>
                </a:solidFill>
              </a:rPr>
              <a:t>v</a:t>
            </a:r>
            <a:r>
              <a:rPr b="0" dirty="0" sz="1200" lang="en-US">
                <a:solidFill>
                  <a:schemeClr val="tx1"/>
                </a:solidFill>
              </a:rPr>
              <a:t>e</a:t>
            </a:r>
            <a:r>
              <a:rPr b="0" dirty="0" sz="1200" lang="en-US">
                <a:solidFill>
                  <a:schemeClr val="tx1"/>
                </a:solidFill>
              </a:rPr>
              <a:t>s</a:t>
            </a:r>
            <a:r>
              <a:rPr b="0" dirty="0" sz="1200" lang="en-US">
                <a:solidFill>
                  <a:schemeClr val="tx1"/>
                </a:solidFill>
              </a:rPr>
              <a:t>?</a:t>
            </a:r>
            <a:endParaRPr dirty="0" sz="1200" lang="en-AU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048602" name="TextBox 39"/>
          <p:cNvSpPr txBox="1"/>
          <p:nvPr/>
        </p:nvSpPr>
        <p:spPr>
          <a:xfrm>
            <a:off x="2753383" y="4196303"/>
            <a:ext cx="2332498" cy="57404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  <a:t>pying them. </a:t>
            </a:r>
            <a:b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  <a:t>DELETE THIS BO</a:t>
            </a:r>
          </a:p>
        </p:txBody>
      </p:sp>
      <p:sp>
        <p:nvSpPr>
          <p:cNvPr id="1048603" name="Speech Bubble: Rectangle 2"/>
          <p:cNvSpPr/>
          <p:nvPr/>
        </p:nvSpPr>
        <p:spPr>
          <a:xfrm>
            <a:off x="8952057" y="5441680"/>
            <a:ext cx="1910253" cy="698935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pPr algn="ctr"/>
            <a:r>
              <a:rPr sz="1200" lang="en-US">
                <a:solidFill>
                  <a:schemeClr val="tx1"/>
                </a:solidFill>
                <a:ea typeface="Calibri"/>
                <a:cs typeface="Calibri"/>
              </a:rPr>
              <a:t>Do people regularly need to send small packages to other people within their city?</a:t>
            </a:r>
            <a:endParaRPr sz="1200"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048667" name="Speech Bubble: Rectangle 35"/>
          <p:cNvSpPr/>
          <p:nvPr/>
        </p:nvSpPr>
        <p:spPr>
          <a:xfrm>
            <a:off x="7288521" y="4199066"/>
            <a:ext cx="1832143" cy="868721"/>
          </a:xfrm>
          <a:prstGeom prst="wedgeRectCallout"/>
          <a:solidFill>
            <a:srgbClr val="FFFFFF"/>
          </a:solidFill>
          <a:ln w="12700" cap="flat" cmpd="sng" algn="ctr">
            <a:solidFill>
              <a:srgbClr val="5B9BD5"/>
            </a:solidFill>
            <a:prstDash val="solid"/>
            <a:miter lim="800000"/>
          </a:ln>
        </p:spPr>
        <p:txBody>
          <a:bodyPr anchor="ctr" bIns="45720" lIns="91440" rIns="91440" rtlCol="0" tIns="45720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 sz="1200" lang="en-US">
                <a:solidFill>
                  <a:srgbClr val="000000"/>
                </a:solidFill>
                <a:ea typeface="Calibri"/>
                <a:cs typeface="Calibri"/>
              </a:rPr>
              <a:t>Does RiIDR's package limits ( being a bike- centered service) fits the package size of most people?</a:t>
            </a:r>
            <a:endParaRPr dirty="0" sz="1200" lang="en-AU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Evangel Afolabi</dc:creator>
  <cp:lastModifiedBy>Evangel Afolabi</cp:lastModifiedBy>
  <dcterms:created xsi:type="dcterms:W3CDTF">2026-09-25T15:16:59Z</dcterms:created>
  <dcterms:modified xsi:type="dcterms:W3CDTF">2026-09-29T18:12:16Z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bc3d09e48ec74b7a9ac9cbddb2666bc6_23</vt:lpwstr>
  </property>
</Properties>
</file>