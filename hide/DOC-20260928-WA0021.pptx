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5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tableStyles" Target="tableStyle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08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1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5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5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629A-65B1-465F-A753-1C58CD508AC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26957-89AA-4A6B-8ABB-D67FB5DF4B93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354724" y="-349583"/>
            <a:ext cx="10515600" cy="1325563"/>
          </a:xfrm>
        </p:spPr>
        <p:txBody>
          <a:bodyPr>
            <a:normAutofit/>
          </a:bodyPr>
          <a:p>
            <a:r>
              <a:rPr b="1" dirty="0" sz="3200" lang="en-US" err="1">
                <a:latin typeface="Palatino Linotype" panose="02040502050505030304" pitchFamily="18" charset="0"/>
              </a:rPr>
              <a:t>Prioritising</a:t>
            </a:r>
            <a:r>
              <a:rPr b="1" dirty="0" sz="3200" lang="en-US">
                <a:latin typeface="Palatino Linotype" panose="02040502050505030304" pitchFamily="18" charset="0"/>
              </a:rPr>
              <a:t> Assumptions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326028" y="675911"/>
          <a:ext cx="10562895" cy="61070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729654"/>
                <a:gridCol w="3021724"/>
                <a:gridCol w="2811517"/>
              </a:tblGrid>
              <a:tr h="1077828">
                <a:tc>
                  <a:txBody>
                    <a:bodyPr/>
                    <a:p>
                      <a:pPr algn="ctr"/>
                      <a:r>
                        <a:rPr dirty="0" sz="1800" lang="en-AU"/>
                        <a:t>Assumptions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AU"/>
                        <a:t>Importance - </a:t>
                      </a:r>
                      <a:r>
                        <a:rPr dirty="0" sz="1400" lang="en-IN"/>
                        <a:t>If we get this wrong, how likely will we fail? </a:t>
                      </a:r>
                      <a:r>
                        <a:rPr dirty="0" sz="1400" lang="en-AU"/>
                        <a:t>(0 – 10) 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sz="1400" lang="en-AU"/>
                        <a:t>Risk - </a:t>
                      </a:r>
                      <a:r>
                        <a:rPr dirty="0" sz="1400" lang="en-IN"/>
                        <a:t>How much do I really know about this? </a:t>
                      </a:r>
                      <a:r>
                        <a:rPr dirty="0" sz="1400" lang="en-AU"/>
                        <a:t>(0 – 10) </a:t>
                      </a:r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1. </a:t>
                      </a:r>
                      <a:r>
                        <a:rPr b="0" dirty="0" sz="1800" i="0" lang="en-AU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Are we targeting the right audience? Are there more audience outside our scope? 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dirty="0" lang="en-US"/>
                        <a:t>5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pPr algn="l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800" lang="en-AU">
                          <a:latin typeface="Calibri"/>
                        </a:rPr>
                        <a:t>2. 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get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audience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ready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to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go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of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their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manual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record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keeping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even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the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nce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of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endParaRPr dirty="0" sz="1800" lang="en-US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1</a:t>
                      </a:r>
                      <a:r>
                        <a:rPr dirty="0" lang="en-US"/>
                        <a:t>0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dirty="0" lang="en-AU"/>
                        <a:t>3</a:t>
                      </a:r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3. </a:t>
                      </a:r>
                      <a:r>
                        <a:rPr b="0" dirty="0" sz="1800" i="0" lang="en-AU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raders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/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m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l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u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siness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owners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u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u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t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  <a:r>
                        <a:rPr b="0" dirty="0" sz="1800" i="0" lang="en-AU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ready to adjust to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s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u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i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vative</a:t>
                      </a:r>
                      <a:r>
                        <a:rPr b="0" dirty="0" sz="1800" i="0" lang="en-US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?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8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dirty="0" lang="en-AU"/>
                        <a:t>2</a:t>
                      </a:r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sz="1800" lang="en-AU">
                          <a:latin typeface="Calibri"/>
                        </a:rPr>
                        <a:t>4. </a:t>
                      </a:r>
                      <a:r>
                        <a:rPr b="0" dirty="0" sz="1800" i="0" lang="en-AU" noProof="0" strike="noStrike" u="none">
                          <a:solidFill>
                            <a:srgbClr val="000000"/>
                          </a:solidFill>
                          <a:latin typeface="Calibri"/>
                        </a:rPr>
                        <a:t>Customers sees it as a more affordable flexible option</a:t>
                      </a:r>
                      <a:endParaRPr dirty="0" sz="1800" lang="en-AU">
                        <a:latin typeface="Calibri"/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7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5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dirty="0" lang="en-AU"/>
                        <a:t>5. </a:t>
                      </a:r>
                      <a:r>
                        <a:rPr dirty="0" lang="en-US"/>
                        <a:t>W</a:t>
                      </a:r>
                      <a:r>
                        <a:rPr dirty="0" lang="en-US"/>
                        <a:t>ill </a:t>
                      </a:r>
                      <a:r>
                        <a:rPr dirty="0" lang="en-US"/>
                        <a:t>they </a:t>
                      </a:r>
                      <a:r>
                        <a:rPr dirty="0" lang="en-US"/>
                        <a:t>be </a:t>
                      </a:r>
                      <a:r>
                        <a:rPr dirty="0" lang="en-US"/>
                        <a:t>willing </a:t>
                      </a:r>
                      <a:r>
                        <a:rPr dirty="0" lang="en-US"/>
                        <a:t>to </a:t>
                      </a:r>
                      <a:r>
                        <a:rPr dirty="0" lang="en-US"/>
                        <a:t>pay </a:t>
                      </a:r>
                      <a:r>
                        <a:rPr dirty="0" lang="en-US"/>
                        <a:t>N</a:t>
                      </a:r>
                      <a:r>
                        <a:rPr dirty="0" lang="en-US"/>
                        <a:t>5</a:t>
                      </a:r>
                      <a:r>
                        <a:rPr dirty="0" lang="en-US"/>
                        <a:t>0</a:t>
                      </a:r>
                      <a:r>
                        <a:rPr dirty="0" lang="en-US"/>
                        <a:t>0</a:t>
                      </a:r>
                      <a:r>
                        <a:rPr dirty="0" lang="en-US"/>
                        <a:t>-</a:t>
                      </a:r>
                      <a:r>
                        <a:rPr dirty="0" lang="en-US"/>
                        <a:t>N</a:t>
                      </a:r>
                      <a:r>
                        <a:rPr dirty="0" lang="en-US"/>
                        <a:t>1</a:t>
                      </a:r>
                      <a:r>
                        <a:rPr dirty="0" lang="en-US"/>
                        <a:t>0</a:t>
                      </a:r>
                      <a:r>
                        <a:rPr dirty="0" lang="en-US"/>
                        <a:t>0</a:t>
                      </a:r>
                      <a:r>
                        <a:rPr dirty="0" lang="en-US"/>
                        <a:t>0</a:t>
                      </a:r>
                      <a:r>
                        <a:rPr dirty="0" lang="en-US"/>
                        <a:t> </a:t>
                      </a:r>
                      <a:r>
                        <a:rPr dirty="0" lang="en-US"/>
                        <a:t>m</a:t>
                      </a:r>
                      <a:r>
                        <a:rPr dirty="0" lang="en-US"/>
                        <a:t>o</a:t>
                      </a:r>
                      <a:r>
                        <a:rPr dirty="0" lang="en-US"/>
                        <a:t>n</a:t>
                      </a:r>
                      <a:r>
                        <a:rPr dirty="0" lang="en-US"/>
                        <a:t>t</a:t>
                      </a:r>
                      <a:r>
                        <a:rPr dirty="0" lang="en-US"/>
                        <a:t>h</a:t>
                      </a:r>
                      <a:r>
                        <a:rPr dirty="0" lang="en-US"/>
                        <a:t>ly </a:t>
                      </a:r>
                      <a:r>
                        <a:rPr dirty="0" lang="en-US"/>
                        <a:t>for </a:t>
                      </a:r>
                      <a:r>
                        <a:rPr dirty="0" lang="en-US"/>
                        <a:t>ledgerPal </a:t>
                      </a:r>
                      <a:r>
                        <a:rPr dirty="0" lang="en-US"/>
                        <a:t>to </a:t>
                      </a:r>
                      <a:r>
                        <a:rPr dirty="0" lang="en-US"/>
                        <a:t>keep </a:t>
                      </a:r>
                      <a:r>
                        <a:rPr dirty="0" lang="en-US"/>
                        <a:t>their </a:t>
                      </a:r>
                      <a:r>
                        <a:rPr dirty="0" lang="en-US"/>
                        <a:t>account</a:t>
                      </a:r>
                      <a:r>
                        <a:rPr dirty="0" lang="en-US"/>
                        <a:t>?</a:t>
                      </a:r>
                      <a:endParaRPr b="0" sz="1800" lang="en-AU">
                        <a:solidFill>
                          <a:schemeClr val="tx1"/>
                        </a:solidFill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1</a:t>
                      </a:r>
                      <a:r>
                        <a:rPr dirty="0" lang="en-US"/>
                        <a:t>0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2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they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have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rt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phones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and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can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use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offline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w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thout 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ta</a:t>
                      </a:r>
                      <a:r>
                        <a:rPr b="0" dirty="0" sz="1800" lang="en-US">
                          <a:solidFill>
                            <a:schemeClr val="tx1"/>
                          </a:solidFill>
                        </a:rPr>
                        <a:t>?</a:t>
                      </a:r>
                      <a:endParaRPr b="0" dirty="0" sz="1800" lang="en-AU">
                        <a:solidFill>
                          <a:schemeClr val="tx1"/>
                        </a:solidFill>
                      </a:endParaRPr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7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7</a:t>
                      </a:r>
                      <a:endParaRPr altLang="en-US" lang="zh-CN"/>
                    </a:p>
                  </a:txBody>
                </a:tc>
              </a:tr>
              <a:tr h="550096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lang="en-AU"/>
                        <a:t>7.</a:t>
                      </a:r>
                      <a:r>
                        <a:rPr b="0" dirty="0" sz="1800" lang="en-AU">
                          <a:solidFill>
                            <a:schemeClr val="tx1"/>
                          </a:solidFill>
                        </a:rPr>
                        <a:t> </a:t>
                      </a:r>
                      <a:r>
                        <a:rPr b="0" dirty="0" sz="1800" i="0" lang="en-AU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What are the cha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l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l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enge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s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i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n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c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o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n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v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i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ncing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target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audience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to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switch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from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notebook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to 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ledgerPal</a:t>
                      </a:r>
                      <a:r>
                        <a:rPr b="0" dirty="0" sz="1800" i="0" lang="en-US" noProof="0" strike="noStrike" u="none">
                          <a:solidFill>
                            <a:schemeClr val="tx1"/>
                          </a:solidFill>
                          <a:latin typeface="Calibri"/>
                        </a:rPr>
                        <a:t>?</a:t>
                      </a:r>
                      <a:endParaRPr b="0" dirty="0" sz="1800" lang="en-US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dirty="0" lang="en-AU"/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9</a:t>
                      </a:r>
                      <a:endParaRPr altLang="en-US" lang="zh-CN"/>
                    </a:p>
                  </a:txBody>
                </a:tc>
                <a:tc>
                  <a:txBody>
                    <a:bodyPr/>
                    <a:p>
                      <a:r>
                        <a:rPr dirty="0" lang="en-US"/>
                        <a:t>3</a:t>
                      </a:r>
                      <a:endParaRPr altLang="en-US" lang="zh-CN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325776" y="228491"/>
            <a:ext cx="3870435" cy="717440"/>
          </a:xfrm>
        </p:spPr>
        <p:txBody>
          <a:bodyPr>
            <a:normAutofit/>
          </a:bodyPr>
          <a:p>
            <a:r>
              <a:rPr b="1" dirty="0" sz="2800" lang="en-US">
                <a:latin typeface="Palatino Linotype" panose="02040502050505030304" pitchFamily="18" charset="0"/>
              </a:rPr>
              <a:t>Risk Importance Graph</a:t>
            </a:r>
          </a:p>
        </p:txBody>
      </p:sp>
      <p:grpSp>
        <p:nvGrpSpPr>
          <p:cNvPr id="19" name="Group 27"/>
          <p:cNvGrpSpPr/>
          <p:nvPr/>
        </p:nvGrpSpPr>
        <p:grpSpPr>
          <a:xfrm>
            <a:off x="531984" y="478017"/>
            <a:ext cx="10588162" cy="6151492"/>
            <a:chOff x="342797" y="660681"/>
            <a:chExt cx="10588162" cy="6151492"/>
          </a:xfrm>
        </p:grpSpPr>
        <p:cxnSp>
          <p:nvCxnSpPr>
            <p:cNvPr id="3145728" name="Straight Arrow Connector 3"/>
            <p:cNvCxnSpPr>
              <a:cxnSpLocks/>
            </p:cNvCxnSpPr>
            <p:nvPr/>
          </p:nvCxnSpPr>
          <p:spPr>
            <a:xfrm>
              <a:off x="5922579" y="1030013"/>
              <a:ext cx="0" cy="5412828"/>
            </a:xfrm>
            <a:prstGeom prst="straightConnector1"/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29" name="Straight Arrow Connector 9"/>
            <p:cNvCxnSpPr>
              <a:cxnSpLocks/>
            </p:cNvCxnSpPr>
            <p:nvPr/>
          </p:nvCxnSpPr>
          <p:spPr>
            <a:xfrm flipH="1">
              <a:off x="1555531" y="3694386"/>
              <a:ext cx="9212317" cy="0"/>
            </a:xfrm>
            <a:prstGeom prst="straightConnector1"/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48587" name="TextBox 16"/>
            <p:cNvSpPr txBox="1"/>
            <p:nvPr/>
          </p:nvSpPr>
          <p:spPr>
            <a:xfrm>
              <a:off x="1618593" y="3694386"/>
              <a:ext cx="33794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88" name="TextBox 17"/>
            <p:cNvSpPr txBox="1"/>
            <p:nvPr/>
          </p:nvSpPr>
          <p:spPr>
            <a:xfrm>
              <a:off x="5931480" y="1030013"/>
              <a:ext cx="33794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89" name="TextBox 18"/>
            <p:cNvSpPr txBox="1"/>
            <p:nvPr/>
          </p:nvSpPr>
          <p:spPr>
            <a:xfrm>
              <a:off x="10289628" y="3694386"/>
              <a:ext cx="452750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10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90" name="TextBox 19"/>
            <p:cNvSpPr txBox="1"/>
            <p:nvPr/>
          </p:nvSpPr>
          <p:spPr>
            <a:xfrm>
              <a:off x="5963009" y="6073510"/>
              <a:ext cx="448297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latin typeface="Avenir Book" panose="02000503020000020003" pitchFamily="2" charset="0"/>
                </a:rPr>
                <a:t>10</a:t>
              </a:r>
              <a:endParaRPr dirty="0" lang="en-US">
                <a:latin typeface="Avenir Book" panose="02000503020000020003" pitchFamily="2" charset="0"/>
              </a:endParaRPr>
            </a:p>
          </p:txBody>
        </p:sp>
        <p:sp>
          <p:nvSpPr>
            <p:cNvPr id="1048591" name="TextBox 20"/>
            <p:cNvSpPr txBox="1"/>
            <p:nvPr/>
          </p:nvSpPr>
          <p:spPr>
            <a:xfrm>
              <a:off x="5371401" y="6442841"/>
              <a:ext cx="1012422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2"/>
                  </a:solidFill>
                  <a:latin typeface="Avenir Book" panose="02000503020000020003" pitchFamily="2" charset="0"/>
                </a:rPr>
                <a:t>Known</a:t>
              </a:r>
              <a:endParaRPr dirty="0" lang="en-US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2" name="TextBox 21"/>
            <p:cNvSpPr txBox="1"/>
            <p:nvPr/>
          </p:nvSpPr>
          <p:spPr>
            <a:xfrm>
              <a:off x="5445375" y="660681"/>
              <a:ext cx="1153508" cy="369332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2"/>
                  </a:solidFill>
                  <a:latin typeface="Avenir Book" panose="02000503020000020003" pitchFamily="2" charset="0"/>
                </a:rPr>
                <a:t>Unknown</a:t>
              </a:r>
              <a:endParaRPr dirty="0" lang="en-US">
                <a:solidFill>
                  <a:schemeClr val="accent2"/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3" name="TextBox 22"/>
            <p:cNvSpPr txBox="1"/>
            <p:nvPr/>
          </p:nvSpPr>
          <p:spPr>
            <a:xfrm>
              <a:off x="9661435" y="4017579"/>
              <a:ext cx="1269524" cy="369332"/>
            </a:xfrm>
            <a:prstGeom prst="rect"/>
            <a:noFill/>
          </p:spPr>
          <p:txBody>
            <a:bodyPr anchor="t" bIns="45720" lIns="91440" rIns="91440" tIns="45720" wrap="square">
              <a:spAutoFit/>
            </a:bodyPr>
            <a:p>
              <a:r>
                <a:rPr dirty="0" lang="en-IN">
                  <a:solidFill>
                    <a:schemeClr val="accent5">
                      <a:lumMod val="75000"/>
                    </a:schemeClr>
                  </a:solidFill>
                  <a:latin typeface="Avenir Book"/>
                </a:rPr>
                <a:t>Important</a:t>
              </a:r>
              <a:endParaRPr dirty="0" lang="en-US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  <p:sp>
          <p:nvSpPr>
            <p:cNvPr id="1048594" name="TextBox 23"/>
            <p:cNvSpPr txBox="1"/>
            <p:nvPr/>
          </p:nvSpPr>
          <p:spPr>
            <a:xfrm>
              <a:off x="342797" y="3244334"/>
              <a:ext cx="1528043" cy="624839"/>
            </a:xfrm>
            <a:prstGeom prst="rect"/>
            <a:noFill/>
          </p:spPr>
          <p:txBody>
            <a:bodyPr wrap="square">
              <a:spAutoFit/>
            </a:bodyPr>
            <a:p>
              <a:r>
                <a:rPr dirty="0" lang="en-IN">
                  <a:solidFill>
                    <a:schemeClr val="accent5">
                      <a:lumMod val="75000"/>
                    </a:schemeClr>
                  </a:solidFill>
                  <a:latin typeface="Avenir Book" panose="02000503020000020003" pitchFamily="2" charset="0"/>
                </a:rPr>
                <a:t>Not Important</a:t>
              </a:r>
              <a:endParaRPr dirty="0" lang="en-US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sp>
        <p:nvSpPr>
          <p:cNvPr id="1048595" name="TextBox 28"/>
          <p:cNvSpPr txBox="1"/>
          <p:nvPr/>
        </p:nvSpPr>
        <p:spPr>
          <a:xfrm>
            <a:off x="178276" y="6214010"/>
            <a:ext cx="1566442" cy="461665"/>
          </a:xfrm>
          <a:prstGeom prst="rect"/>
          <a:noFill/>
        </p:spPr>
        <p:txBody>
          <a:bodyPr wrap="square">
            <a:spAutoFit/>
          </a:bodyPr>
          <a:p>
            <a:r>
              <a:rPr dirty="0" sz="1200" lang="en-IN">
                <a:latin typeface="Avenir Book" panose="02000503020000020003" pitchFamily="2" charset="0"/>
              </a:rPr>
              <a:t>X axis - </a:t>
            </a:r>
            <a:r>
              <a:rPr dirty="0" sz="1200" lang="en-IN">
                <a:solidFill>
                  <a:schemeClr val="accent5">
                    <a:lumMod val="75000"/>
                  </a:schemeClr>
                </a:solidFill>
                <a:latin typeface="Avenir Book" panose="02000503020000020003" pitchFamily="2" charset="0"/>
              </a:rPr>
              <a:t>Importance</a:t>
            </a:r>
          </a:p>
          <a:p>
            <a:r>
              <a:rPr dirty="0" sz="1200" lang="en-IN">
                <a:latin typeface="Avenir Book" panose="02000503020000020003" pitchFamily="2" charset="0"/>
              </a:rPr>
              <a:t>Y axis - </a:t>
            </a:r>
            <a:r>
              <a:rPr dirty="0" sz="1200" lang="en-IN">
                <a:solidFill>
                  <a:schemeClr val="accent2">
                    <a:lumMod val="75000"/>
                  </a:schemeClr>
                </a:solidFill>
                <a:latin typeface="Avenir Book" panose="02000503020000020003" pitchFamily="2" charset="0"/>
              </a:rPr>
              <a:t>Risk</a:t>
            </a:r>
            <a:r>
              <a:rPr dirty="0" sz="1200" lang="en-IN">
                <a:latin typeface="Avenir Book" panose="02000503020000020003" pitchFamily="2" charset="0"/>
              </a:rPr>
              <a:t> </a:t>
            </a:r>
            <a:endParaRPr dirty="0" sz="1200" lang="en-US">
              <a:latin typeface="Avenir Book" panose="02000503020000020003" pitchFamily="2" charset="0"/>
            </a:endParaRPr>
          </a:p>
        </p:txBody>
      </p:sp>
      <p:sp>
        <p:nvSpPr>
          <p:cNvPr id="1048596" name="Speech Bubble: Rectangle 30"/>
          <p:cNvSpPr/>
          <p:nvPr/>
        </p:nvSpPr>
        <p:spPr>
          <a:xfrm>
            <a:off x="7608979" y="968743"/>
            <a:ext cx="2081047" cy="790899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US"/>
              <a:t>A</a:t>
            </a:r>
            <a:r>
              <a:rPr dirty="0" sz="1200" lang="en-US"/>
              <a:t>r</a:t>
            </a:r>
            <a:r>
              <a:rPr dirty="0" sz="1200" lang="en-US"/>
              <a:t>e</a:t>
            </a:r>
            <a:r>
              <a:rPr dirty="0" sz="1200" lang="en-US"/>
              <a:t> </a:t>
            </a:r>
            <a:r>
              <a:rPr dirty="0" sz="1200" lang="en-US"/>
              <a:t>t</a:t>
            </a:r>
            <a:r>
              <a:rPr dirty="0" sz="1200" lang="en-US"/>
              <a:t>r</a:t>
            </a:r>
            <a:r>
              <a:rPr dirty="0" sz="1200" lang="en-US"/>
              <a:t>aders</a:t>
            </a:r>
            <a:r>
              <a:rPr dirty="0" sz="1200" lang="en-US"/>
              <a:t>)</a:t>
            </a:r>
            <a:r>
              <a:rPr dirty="0" sz="1200" lang="en-US"/>
              <a:t> Business </a:t>
            </a:r>
            <a:r>
              <a:rPr dirty="0" sz="1200" lang="en-US"/>
              <a:t>o</a:t>
            </a:r>
            <a:r>
              <a:rPr dirty="0" sz="1200" lang="en-US"/>
              <a:t>w</a:t>
            </a:r>
            <a:r>
              <a:rPr dirty="0" sz="1200" lang="en-US"/>
              <a:t>n</a:t>
            </a:r>
            <a:r>
              <a:rPr dirty="0" sz="1200" lang="en-US"/>
              <a:t>ers </a:t>
            </a:r>
            <a:r>
              <a:rPr dirty="0" sz="1200" lang="en-US"/>
              <a:t>(</a:t>
            </a:r>
            <a:r>
              <a:rPr dirty="0" sz="1200" lang="en-US"/>
              <a:t>u</a:t>
            </a:r>
            <a:r>
              <a:rPr dirty="0" sz="1200" lang="en-US"/>
              <a:t>n</a:t>
            </a:r>
            <a:r>
              <a:rPr dirty="0" sz="1200" lang="en-US"/>
              <a:t>e</a:t>
            </a:r>
            <a:r>
              <a:rPr dirty="0" sz="1200" lang="en-US"/>
              <a:t>d</a:t>
            </a:r>
            <a:r>
              <a:rPr dirty="0" sz="1200" lang="en-US"/>
              <a:t>u</a:t>
            </a:r>
            <a:r>
              <a:rPr dirty="0" sz="1200" lang="en-US"/>
              <a:t>cated </a:t>
            </a:r>
            <a:r>
              <a:rPr dirty="0" sz="1200" lang="en-US"/>
              <a:t>ones</a:t>
            </a:r>
            <a:r>
              <a:rPr dirty="0" sz="1200" lang="en-US"/>
              <a:t>)</a:t>
            </a:r>
            <a:r>
              <a:rPr dirty="0" sz="1200" lang="en-US"/>
              <a:t> </a:t>
            </a:r>
            <a:r>
              <a:rPr dirty="0" sz="1200" lang="en-US"/>
              <a:t>r</a:t>
            </a:r>
            <a:r>
              <a:rPr dirty="0" sz="1200" lang="en-US"/>
              <a:t>e</a:t>
            </a:r>
            <a:r>
              <a:rPr dirty="0" sz="1200" lang="en-US"/>
              <a:t>a</a:t>
            </a:r>
            <a:r>
              <a:rPr dirty="0" sz="1200" lang="en-US"/>
              <a:t>d</a:t>
            </a:r>
            <a:r>
              <a:rPr dirty="0" sz="1200" lang="en-US"/>
              <a:t>y</a:t>
            </a:r>
            <a:r>
              <a:rPr dirty="0" sz="1200" lang="en-US"/>
              <a:t> </a:t>
            </a:r>
            <a:r>
              <a:rPr dirty="0" sz="1200" lang="en-US"/>
              <a:t>to </a:t>
            </a:r>
            <a:r>
              <a:rPr dirty="0" sz="1200" lang="en-US"/>
              <a:t>a</a:t>
            </a:r>
            <a:r>
              <a:rPr dirty="0" sz="1200" lang="en-US"/>
              <a:t>d</a:t>
            </a:r>
            <a:r>
              <a:rPr dirty="0" sz="1200" lang="en-US"/>
              <a:t>j</a:t>
            </a:r>
            <a:r>
              <a:rPr dirty="0" sz="1200" lang="en-US"/>
              <a:t>u</a:t>
            </a:r>
            <a:r>
              <a:rPr dirty="0" sz="1200" lang="en-US"/>
              <a:t>st </a:t>
            </a:r>
            <a:r>
              <a:rPr dirty="0" sz="1200" lang="en-US"/>
              <a:t>to </a:t>
            </a:r>
            <a:r>
              <a:rPr dirty="0" sz="1200" lang="en-US"/>
              <a:t>such </a:t>
            </a:r>
            <a:r>
              <a:rPr dirty="0" sz="1200" lang="en-US"/>
              <a:t>innovative </a:t>
            </a:r>
            <a:endParaRPr altLang="en-US" lang="zh-CN"/>
          </a:p>
        </p:txBody>
      </p:sp>
      <p:sp>
        <p:nvSpPr>
          <p:cNvPr id="1048597" name="Speech Bubble: Rectangle 32"/>
          <p:cNvSpPr/>
          <p:nvPr/>
        </p:nvSpPr>
        <p:spPr>
          <a:xfrm flipV="0">
            <a:off x="4131566" y="5071940"/>
            <a:ext cx="1899283" cy="776119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AU"/>
              <a:t>Are we targeting the right audience? Are there more audience outside our scope? </a:t>
            </a:r>
            <a:endParaRPr dirty="0" sz="1200" lang="en-AU">
              <a:ea typeface="Calibri"/>
              <a:cs typeface="Calibri"/>
            </a:endParaRPr>
          </a:p>
          <a:p>
            <a:pPr algn="ctr"/>
            <a:endParaRPr dirty="0" sz="1200" lang="en-AU">
              <a:ea typeface="Calibri"/>
              <a:cs typeface="Calibri"/>
            </a:endParaRPr>
          </a:p>
        </p:txBody>
      </p:sp>
      <p:sp>
        <p:nvSpPr>
          <p:cNvPr id="1048598" name="Speech Bubble: Rectangle 33"/>
          <p:cNvSpPr/>
          <p:nvPr/>
        </p:nvSpPr>
        <p:spPr>
          <a:xfrm>
            <a:off x="8965228" y="1437075"/>
            <a:ext cx="1844563" cy="1040520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US">
                <a:ea typeface="Calibri"/>
                <a:cs typeface="Calibri"/>
              </a:rPr>
              <a:t>C</a:t>
            </a:r>
            <a:r>
              <a:rPr dirty="0" sz="1200" lang="en-US">
                <a:ea typeface="Calibri"/>
                <a:cs typeface="Calibri"/>
              </a:rPr>
              <a:t>u</a:t>
            </a:r>
            <a:r>
              <a:rPr dirty="0" sz="1200" lang="en-US">
                <a:ea typeface="Calibri"/>
                <a:cs typeface="Calibri"/>
              </a:rPr>
              <a:t>s</a:t>
            </a:r>
            <a:r>
              <a:rPr dirty="0" sz="1200" lang="en-US">
                <a:ea typeface="Calibri"/>
                <a:cs typeface="Calibri"/>
              </a:rPr>
              <a:t>t</a:t>
            </a:r>
            <a:r>
              <a:rPr dirty="0" sz="1200" lang="en-US">
                <a:ea typeface="Calibri"/>
                <a:cs typeface="Calibri"/>
              </a:rPr>
              <a:t>omer </a:t>
            </a:r>
            <a:r>
              <a:rPr dirty="0" sz="1200" lang="en-US">
                <a:ea typeface="Calibri"/>
                <a:cs typeface="Calibri"/>
              </a:rPr>
              <a:t>sees </a:t>
            </a:r>
            <a:r>
              <a:rPr dirty="0" sz="1200" lang="en-US">
                <a:ea typeface="Calibri"/>
                <a:cs typeface="Calibri"/>
              </a:rPr>
              <a:t>it </a:t>
            </a:r>
            <a:r>
              <a:rPr dirty="0" sz="1200" lang="en-US">
                <a:ea typeface="Calibri"/>
                <a:cs typeface="Calibri"/>
              </a:rPr>
              <a:t>has </a:t>
            </a:r>
            <a:r>
              <a:rPr dirty="0" sz="1200" lang="en-US">
                <a:ea typeface="Calibri"/>
                <a:cs typeface="Calibri"/>
              </a:rPr>
              <a:t>a </a:t>
            </a:r>
            <a:r>
              <a:rPr dirty="0" sz="1200" lang="en-US">
                <a:ea typeface="Calibri"/>
                <a:cs typeface="Calibri"/>
              </a:rPr>
              <a:t>more </a:t>
            </a:r>
            <a:r>
              <a:rPr dirty="0" sz="1200" lang="en-US">
                <a:ea typeface="Calibri"/>
                <a:cs typeface="Calibri"/>
              </a:rPr>
              <a:t>a</a:t>
            </a:r>
            <a:r>
              <a:rPr dirty="0" sz="1200" lang="en-US">
                <a:ea typeface="Calibri"/>
                <a:cs typeface="Calibri"/>
              </a:rPr>
              <a:t>f</a:t>
            </a:r>
            <a:r>
              <a:rPr dirty="0" sz="1200" lang="en-US">
                <a:ea typeface="Calibri"/>
                <a:cs typeface="Calibri"/>
              </a:rPr>
              <a:t>f</a:t>
            </a:r>
            <a:r>
              <a:rPr dirty="0" sz="1200" lang="en-US">
                <a:ea typeface="Calibri"/>
                <a:cs typeface="Calibri"/>
              </a:rPr>
              <a:t>ordable </a:t>
            </a:r>
            <a:r>
              <a:rPr dirty="0" sz="1200" lang="en-US">
                <a:ea typeface="Calibri"/>
                <a:cs typeface="Calibri"/>
              </a:rPr>
              <a:t>a</a:t>
            </a:r>
            <a:r>
              <a:rPr dirty="0" sz="1200" lang="en-US">
                <a:ea typeface="Calibri"/>
                <a:cs typeface="Calibri"/>
              </a:rPr>
              <a:t>nd </a:t>
            </a:r>
            <a:r>
              <a:rPr dirty="0" sz="1200" lang="en-US">
                <a:ea typeface="Calibri"/>
                <a:cs typeface="Calibri"/>
              </a:rPr>
              <a:t>f</a:t>
            </a:r>
            <a:r>
              <a:rPr dirty="0" sz="1200" lang="en-US">
                <a:ea typeface="Calibri"/>
                <a:cs typeface="Calibri"/>
              </a:rPr>
              <a:t>l</a:t>
            </a:r>
            <a:r>
              <a:rPr dirty="0" sz="1200" lang="en-US">
                <a:ea typeface="Calibri"/>
                <a:cs typeface="Calibri"/>
              </a:rPr>
              <a:t>exible </a:t>
            </a:r>
            <a:r>
              <a:rPr dirty="0" sz="1200" lang="en-US">
                <a:ea typeface="Calibri"/>
                <a:cs typeface="Calibri"/>
              </a:rPr>
              <a:t>option </a:t>
            </a:r>
            <a:endParaRPr sz="1200" lang="en-AU">
              <a:ea typeface="Calibri"/>
              <a:cs typeface="Calibri"/>
            </a:endParaRPr>
          </a:p>
          <a:p>
            <a:pPr algn="ctr"/>
            <a:endParaRPr dirty="0" sz="700" lang="en-AU">
              <a:ea typeface="Calibri"/>
              <a:cs typeface="Calibri"/>
            </a:endParaRPr>
          </a:p>
        </p:txBody>
      </p:sp>
      <p:sp>
        <p:nvSpPr>
          <p:cNvPr id="1048599" name="Speech Bubble: Rectangle 34"/>
          <p:cNvSpPr/>
          <p:nvPr/>
        </p:nvSpPr>
        <p:spPr>
          <a:xfrm>
            <a:off x="9530157" y="530556"/>
            <a:ext cx="1792012" cy="869728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US"/>
              <a:t>W</a:t>
            </a:r>
            <a:r>
              <a:rPr dirty="0" sz="1200" lang="en-US"/>
              <a:t>i</a:t>
            </a:r>
            <a:r>
              <a:rPr dirty="0" sz="1200" lang="en-US"/>
              <a:t>l</a:t>
            </a:r>
            <a:r>
              <a:rPr dirty="0" sz="1200" lang="en-US"/>
              <a:t> </a:t>
            </a:r>
            <a:r>
              <a:rPr dirty="0" sz="1200" lang="en-US"/>
              <a:t>t</a:t>
            </a:r>
            <a:r>
              <a:rPr dirty="0" sz="1200" lang="en-US"/>
              <a:t>h</a:t>
            </a:r>
            <a:r>
              <a:rPr dirty="0" sz="1200" lang="en-US"/>
              <a:t>e</a:t>
            </a:r>
            <a:r>
              <a:rPr dirty="0" sz="1200" lang="en-US"/>
              <a:t>y</a:t>
            </a:r>
            <a:r>
              <a:rPr dirty="0" sz="1200" lang="en-US"/>
              <a:t> </a:t>
            </a:r>
            <a:r>
              <a:rPr dirty="0" sz="1200" lang="en-US"/>
              <a:t>b</a:t>
            </a:r>
            <a:r>
              <a:rPr dirty="0" sz="1200" lang="en-US"/>
              <a:t>e</a:t>
            </a:r>
            <a:r>
              <a:rPr dirty="0" sz="1200" lang="en-US"/>
              <a:t> </a:t>
            </a:r>
            <a:r>
              <a:rPr dirty="0" sz="1200" lang="en-US"/>
              <a:t>w</a:t>
            </a:r>
            <a:r>
              <a:rPr dirty="0" sz="1200" lang="en-US"/>
              <a:t>i</a:t>
            </a:r>
            <a:r>
              <a:rPr dirty="0" sz="1200" lang="en-US"/>
              <a:t>lling </a:t>
            </a:r>
            <a:r>
              <a:rPr dirty="0" sz="1200" lang="en-US"/>
              <a:t>t</a:t>
            </a:r>
            <a:r>
              <a:rPr dirty="0" sz="1200" lang="en-US"/>
              <a:t>o</a:t>
            </a:r>
            <a:r>
              <a:rPr dirty="0" sz="1200" lang="en-US"/>
              <a:t> </a:t>
            </a:r>
            <a:r>
              <a:rPr dirty="0" sz="1200" lang="en-US"/>
              <a:t>p</a:t>
            </a:r>
            <a:r>
              <a:rPr dirty="0" sz="1200" lang="en-US"/>
              <a:t>a</a:t>
            </a:r>
            <a:r>
              <a:rPr dirty="0" sz="1200" lang="en-US"/>
              <a:t>y</a:t>
            </a:r>
            <a:r>
              <a:rPr dirty="0" sz="1200" lang="en-US"/>
              <a:t> </a:t>
            </a:r>
            <a:r>
              <a:rPr dirty="0" sz="1200" lang="en-US"/>
              <a:t> </a:t>
            </a:r>
            <a:r>
              <a:rPr dirty="0" sz="1200" lang="en-US"/>
              <a:t>N</a:t>
            </a:r>
            <a:r>
              <a:rPr dirty="0" sz="1200" lang="en-US"/>
              <a:t>5</a:t>
            </a:r>
            <a:r>
              <a:rPr dirty="0" sz="1200" lang="en-US"/>
              <a:t>0</a:t>
            </a:r>
            <a:r>
              <a:rPr dirty="0" sz="1200" lang="en-US"/>
              <a:t>0</a:t>
            </a:r>
            <a:r>
              <a:rPr dirty="0" sz="1200" lang="en-US"/>
              <a:t>-</a:t>
            </a:r>
            <a:r>
              <a:rPr dirty="0" sz="1200" lang="en-US"/>
              <a:t>N</a:t>
            </a:r>
            <a:r>
              <a:rPr dirty="0" sz="1200" lang="en-US"/>
              <a:t>1</a:t>
            </a:r>
            <a:r>
              <a:rPr dirty="0" sz="1200" lang="en-US"/>
              <a:t>0</a:t>
            </a:r>
            <a:r>
              <a:rPr dirty="0" sz="1200" lang="en-US"/>
              <a:t>0</a:t>
            </a:r>
            <a:r>
              <a:rPr dirty="0" sz="1200" lang="en-US"/>
              <a:t>0</a:t>
            </a:r>
            <a:r>
              <a:rPr dirty="0" sz="1200" lang="en-US"/>
              <a:t> </a:t>
            </a:r>
            <a:r>
              <a:rPr dirty="0" sz="1200" lang="en-US"/>
              <a:t>m</a:t>
            </a:r>
            <a:r>
              <a:rPr dirty="0" sz="1200" lang="en-US"/>
              <a:t>o</a:t>
            </a:r>
            <a:r>
              <a:rPr dirty="0" sz="1200" lang="en-US"/>
              <a:t>n</a:t>
            </a:r>
            <a:r>
              <a:rPr dirty="0" sz="1200" lang="en-US"/>
              <a:t>t</a:t>
            </a:r>
            <a:r>
              <a:rPr dirty="0" sz="1200" lang="en-US"/>
              <a:t>h</a:t>
            </a:r>
            <a:r>
              <a:rPr dirty="0" sz="1200" lang="en-US"/>
              <a:t>ly </a:t>
            </a:r>
            <a:r>
              <a:rPr dirty="0" sz="1200" lang="en-US"/>
              <a:t>t</a:t>
            </a:r>
            <a:r>
              <a:rPr dirty="0" sz="1200" lang="en-US"/>
              <a:t>o</a:t>
            </a:r>
            <a:r>
              <a:rPr dirty="0" sz="1200" lang="en-US"/>
              <a:t> </a:t>
            </a:r>
            <a:r>
              <a:rPr dirty="0" sz="1200" lang="en-US"/>
              <a:t>k</a:t>
            </a:r>
            <a:r>
              <a:rPr dirty="0" sz="1200" lang="en-US"/>
              <a:t>e</a:t>
            </a:r>
            <a:r>
              <a:rPr dirty="0" sz="1200" lang="en-US"/>
              <a:t>ep </a:t>
            </a:r>
            <a:r>
              <a:rPr dirty="0" sz="1200" lang="en-US"/>
              <a:t>t</a:t>
            </a:r>
            <a:r>
              <a:rPr dirty="0" sz="1200" lang="en-US"/>
              <a:t>h</a:t>
            </a:r>
            <a:r>
              <a:rPr dirty="0" sz="1200" lang="en-US"/>
              <a:t>e</a:t>
            </a:r>
            <a:r>
              <a:rPr dirty="0" sz="1200" lang="en-US"/>
              <a:t>ir </a:t>
            </a:r>
            <a:r>
              <a:rPr dirty="0" sz="1200" lang="en-US"/>
              <a:t>l</a:t>
            </a:r>
            <a:r>
              <a:rPr dirty="0" sz="1200" lang="en-US"/>
              <a:t>e</a:t>
            </a:r>
            <a:r>
              <a:rPr dirty="0" sz="1200" lang="en-US"/>
              <a:t>d</a:t>
            </a:r>
            <a:r>
              <a:rPr dirty="0" sz="1200" lang="en-US"/>
              <a:t>g</a:t>
            </a:r>
            <a:r>
              <a:rPr dirty="0" sz="1200" lang="en-US"/>
              <a:t>er</a:t>
            </a:r>
            <a:r>
              <a:rPr dirty="0" sz="1200" lang="en-US"/>
              <a:t>P</a:t>
            </a:r>
            <a:r>
              <a:rPr dirty="0" sz="1200" lang="en-US"/>
              <a:t>a</a:t>
            </a:r>
            <a:r>
              <a:rPr dirty="0" sz="1200" lang="en-US"/>
              <a:t>l</a:t>
            </a:r>
            <a:r>
              <a:rPr dirty="0" sz="1200" lang="en-US"/>
              <a:t> </a:t>
            </a:r>
            <a:r>
              <a:rPr dirty="0" sz="1200" lang="en-US"/>
              <a:t>a</a:t>
            </a:r>
            <a:r>
              <a:rPr dirty="0" sz="1200" lang="en-US"/>
              <a:t>c</a:t>
            </a:r>
            <a:r>
              <a:rPr dirty="0" sz="1200" lang="en-US"/>
              <a:t>c</a:t>
            </a:r>
            <a:r>
              <a:rPr dirty="0" sz="1200" lang="en-US"/>
              <a:t>o</a:t>
            </a:r>
            <a:r>
              <a:rPr dirty="0" sz="1200" lang="en-US"/>
              <a:t>unt </a:t>
            </a:r>
            <a:r>
              <a:rPr dirty="0" sz="1200" lang="en-AU"/>
              <a:t>s?</a:t>
            </a:r>
            <a:endParaRPr dirty="0" sz="1200" lang="en-AU">
              <a:ea typeface="Calibri"/>
              <a:cs typeface="Calibri"/>
            </a:endParaRPr>
          </a:p>
        </p:txBody>
      </p:sp>
      <p:sp>
        <p:nvSpPr>
          <p:cNvPr id="1048600" name="Speech Bubble: Rectangle 35"/>
          <p:cNvSpPr/>
          <p:nvPr/>
        </p:nvSpPr>
        <p:spPr>
          <a:xfrm>
            <a:off x="7165384" y="2348439"/>
            <a:ext cx="1679071" cy="852410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AU">
                <a:solidFill>
                  <a:schemeClr val="tx1"/>
                </a:solidFill>
              </a:rPr>
              <a:t>What are the challenges of </a:t>
            </a:r>
            <a:r>
              <a:rPr dirty="0" sz="1200" lang="en-US">
                <a:solidFill>
                  <a:schemeClr val="tx1"/>
                </a:solidFill>
              </a:rPr>
              <a:t>c</a:t>
            </a:r>
            <a:r>
              <a:rPr dirty="0" sz="1200" lang="en-US">
                <a:solidFill>
                  <a:schemeClr val="tx1"/>
                </a:solidFill>
              </a:rPr>
              <a:t>o</a:t>
            </a:r>
            <a:r>
              <a:rPr dirty="0" sz="1200" lang="en-US">
                <a:solidFill>
                  <a:schemeClr val="tx1"/>
                </a:solidFill>
              </a:rPr>
              <a:t>n</a:t>
            </a:r>
            <a:r>
              <a:rPr dirty="0" sz="1200" lang="en-US">
                <a:solidFill>
                  <a:schemeClr val="tx1"/>
                </a:solidFill>
              </a:rPr>
              <a:t>v</a:t>
            </a:r>
            <a:r>
              <a:rPr dirty="0" sz="1200" lang="en-US">
                <a:solidFill>
                  <a:schemeClr val="tx1"/>
                </a:solidFill>
              </a:rPr>
              <a:t>i</a:t>
            </a:r>
            <a:r>
              <a:rPr dirty="0" sz="1200" lang="en-US">
                <a:solidFill>
                  <a:schemeClr val="tx1"/>
                </a:solidFill>
              </a:rPr>
              <a:t>ncing </a:t>
            </a:r>
            <a:r>
              <a:rPr dirty="0" sz="1200" lang="en-US">
                <a:solidFill>
                  <a:schemeClr val="tx1"/>
                </a:solidFill>
              </a:rPr>
              <a:t>t</a:t>
            </a:r>
            <a:r>
              <a:rPr dirty="0" sz="1200" lang="en-US">
                <a:solidFill>
                  <a:schemeClr val="tx1"/>
                </a:solidFill>
              </a:rPr>
              <a:t>a</a:t>
            </a:r>
            <a:r>
              <a:rPr dirty="0" sz="1200" lang="en-US">
                <a:solidFill>
                  <a:schemeClr val="tx1"/>
                </a:solidFill>
              </a:rPr>
              <a:t>r</a:t>
            </a:r>
            <a:r>
              <a:rPr dirty="0" sz="1200" lang="en-US">
                <a:solidFill>
                  <a:schemeClr val="tx1"/>
                </a:solidFill>
              </a:rPr>
              <a:t>get </a:t>
            </a:r>
            <a:r>
              <a:rPr dirty="0" sz="1200" lang="en-US">
                <a:solidFill>
                  <a:schemeClr val="tx1"/>
                </a:solidFill>
              </a:rPr>
              <a:t>audience </a:t>
            </a:r>
            <a:r>
              <a:rPr dirty="0" sz="1200" lang="en-US">
                <a:solidFill>
                  <a:schemeClr val="tx1"/>
                </a:solidFill>
              </a:rPr>
              <a:t>t</a:t>
            </a:r>
            <a:r>
              <a:rPr dirty="0" sz="1200" lang="en-US">
                <a:solidFill>
                  <a:schemeClr val="tx1"/>
                </a:solidFill>
              </a:rPr>
              <a:t>o</a:t>
            </a:r>
            <a:r>
              <a:rPr dirty="0" sz="1200" lang="en-US">
                <a:solidFill>
                  <a:schemeClr val="tx1"/>
                </a:solidFill>
              </a:rPr>
              <a:t> </a:t>
            </a:r>
            <a:r>
              <a:rPr dirty="0" sz="1200" lang="en-US">
                <a:solidFill>
                  <a:schemeClr val="tx1"/>
                </a:solidFill>
              </a:rPr>
              <a:t>s</a:t>
            </a:r>
            <a:r>
              <a:rPr dirty="0" sz="1200" lang="en-US">
                <a:solidFill>
                  <a:schemeClr val="tx1"/>
                </a:solidFill>
              </a:rPr>
              <a:t>w</a:t>
            </a:r>
            <a:r>
              <a:rPr dirty="0" sz="1200" lang="en-US">
                <a:solidFill>
                  <a:schemeClr val="tx1"/>
                </a:solidFill>
              </a:rPr>
              <a:t>i</a:t>
            </a:r>
            <a:r>
              <a:rPr dirty="0" sz="1200" lang="en-US">
                <a:solidFill>
                  <a:schemeClr val="tx1"/>
                </a:solidFill>
              </a:rPr>
              <a:t>tch </a:t>
            </a:r>
            <a:r>
              <a:rPr dirty="0" sz="1200" lang="en-US">
                <a:solidFill>
                  <a:schemeClr val="tx1"/>
                </a:solidFill>
              </a:rPr>
              <a:t>f</a:t>
            </a:r>
            <a:r>
              <a:rPr dirty="0" sz="1200" lang="en-US">
                <a:solidFill>
                  <a:schemeClr val="tx1"/>
                </a:solidFill>
              </a:rPr>
              <a:t>r</a:t>
            </a:r>
            <a:r>
              <a:rPr dirty="0" sz="1200" lang="en-US">
                <a:solidFill>
                  <a:schemeClr val="tx1"/>
                </a:solidFill>
              </a:rPr>
              <a:t>o</a:t>
            </a:r>
            <a:r>
              <a:rPr dirty="0" sz="1200" lang="en-US">
                <a:solidFill>
                  <a:schemeClr val="tx1"/>
                </a:solidFill>
              </a:rPr>
              <a:t>m </a:t>
            </a:r>
            <a:r>
              <a:rPr dirty="0" sz="1200" lang="en-US">
                <a:solidFill>
                  <a:schemeClr val="tx1"/>
                </a:solidFill>
              </a:rPr>
              <a:t>n</a:t>
            </a:r>
            <a:r>
              <a:rPr dirty="0" sz="1200" lang="en-US">
                <a:solidFill>
                  <a:schemeClr val="tx1"/>
                </a:solidFill>
              </a:rPr>
              <a:t>otebook </a:t>
            </a:r>
            <a:r>
              <a:rPr dirty="0" sz="1200" lang="en-US">
                <a:solidFill>
                  <a:schemeClr val="tx1"/>
                </a:solidFill>
              </a:rPr>
              <a:t>to </a:t>
            </a:r>
            <a:r>
              <a:rPr dirty="0" sz="1200" lang="en-US">
                <a:solidFill>
                  <a:schemeClr val="tx1"/>
                </a:solidFill>
              </a:rPr>
              <a:t>l</a:t>
            </a:r>
            <a:r>
              <a:rPr dirty="0" sz="1200" lang="en-US">
                <a:solidFill>
                  <a:schemeClr val="tx1"/>
                </a:solidFill>
              </a:rPr>
              <a:t>e</a:t>
            </a:r>
            <a:r>
              <a:rPr dirty="0" sz="1200" lang="en-US">
                <a:solidFill>
                  <a:schemeClr val="tx1"/>
                </a:solidFill>
              </a:rPr>
              <a:t>d</a:t>
            </a:r>
            <a:r>
              <a:rPr dirty="0" sz="1200" lang="en-US">
                <a:solidFill>
                  <a:schemeClr val="tx1"/>
                </a:solidFill>
              </a:rPr>
              <a:t>g</a:t>
            </a:r>
            <a:r>
              <a:rPr dirty="0" sz="1200" lang="en-US">
                <a:solidFill>
                  <a:schemeClr val="tx1"/>
                </a:solidFill>
              </a:rPr>
              <a:t>erPal </a:t>
            </a:r>
            <a:endParaRPr dirty="0" sz="1200" lang="en-AU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dirty="0" sz="1200" lang="en-AU">
              <a:ea typeface="Calibri"/>
              <a:cs typeface="Calibri"/>
            </a:endParaRPr>
          </a:p>
        </p:txBody>
      </p:sp>
      <p:sp>
        <p:nvSpPr>
          <p:cNvPr id="1048601" name="Speech Bubble: Rectangle 36"/>
          <p:cNvSpPr/>
          <p:nvPr/>
        </p:nvSpPr>
        <p:spPr>
          <a:xfrm>
            <a:off x="8437135" y="4603159"/>
            <a:ext cx="1989080" cy="790900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D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o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t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h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e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y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h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v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e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s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m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rt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phones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and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can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use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app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offline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with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out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data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?</a:t>
            </a:r>
            <a:endParaRPr dirty="0" sz="1200" lang="en-AU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dirty="0" sz="1200" lang="en-AU">
              <a:ea typeface="Calibri"/>
              <a:cs typeface="Calibri"/>
            </a:endParaRPr>
          </a:p>
        </p:txBody>
      </p:sp>
      <p:sp>
        <p:nvSpPr>
          <p:cNvPr id="1048602" name="TextBox 39"/>
          <p:cNvSpPr txBox="1"/>
          <p:nvPr/>
        </p:nvSpPr>
        <p:spPr>
          <a:xfrm>
            <a:off x="2458973" y="4196303"/>
            <a:ext cx="1672593" cy="34696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  <a:t>Plot your assumptions from the previous slide in this graph. You can move the boxes around and create new ones by copying them. </a:t>
            </a:r>
            <a:b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</a:br>
            <a:b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dirty="0" sz="1600" lang="en-US">
                <a:solidFill>
                  <a:schemeClr val="bg1"/>
                </a:solidFill>
                <a:latin typeface="Avenir Book" panose="02000503020000020003" pitchFamily="2" charset="0"/>
              </a:rPr>
              <a:t>DELETE THIS BOX AFTER READING</a:t>
            </a:r>
          </a:p>
        </p:txBody>
      </p:sp>
      <p:sp>
        <p:nvSpPr>
          <p:cNvPr id="1048603" name="Speech Bubble: Rectangle 2"/>
          <p:cNvSpPr/>
          <p:nvPr/>
        </p:nvSpPr>
        <p:spPr>
          <a:xfrm flipV="0">
            <a:off x="3289693" y="5848059"/>
            <a:ext cx="1789025" cy="1100905"/>
          </a:xfrm>
          <a:prstGeom prst="wedgeRectCallout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 bIns="45720" lIns="91440" rIns="91440" rtlCol="0" tIns="45720"/>
          <a:p>
            <a:pPr algn="ctr"/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r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e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t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h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e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t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r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get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audience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ready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to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l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et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go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of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their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manual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record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keeping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even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t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the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a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b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sence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of </a:t>
            </a:r>
            <a:r>
              <a:rPr dirty="0" sz="1200" lang="en-US">
                <a:solidFill>
                  <a:schemeClr val="tx1"/>
                </a:solidFill>
                <a:ea typeface="Calibri"/>
                <a:cs typeface="Calibri"/>
              </a:rPr>
              <a:t>losses </a:t>
            </a:r>
            <a:endParaRPr sz="1200" lang="en-US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/>
              <a:t>Assignment 2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</a:pPr>
            <a:r>
              <a:rPr dirty="0" lang="en-US"/>
              <a:t>Submit your customer problem in an HTML document with styles and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Evangel Afolabi</dc:creator>
  <cp:lastModifiedBy>Evangel Afolabi</cp:lastModifiedBy>
  <dcterms:created xsi:type="dcterms:W3CDTF">2026-09-25T13:16:59Z</dcterms:created>
  <dcterms:modified xsi:type="dcterms:W3CDTF">2026-09-28T20:33:08Z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3eaa2a6506ee421d8ff77a052a49175e</vt:lpwstr>
  </property>
</Properties>
</file>