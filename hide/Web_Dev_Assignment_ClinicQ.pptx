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07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2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4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1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1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5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4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21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2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2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1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629A-65B1-465F-A753-1C58CD508AC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6629A-65B1-465F-A753-1C58CD508AC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>
          <a:xfrm>
            <a:off x="354724" y="-349583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Palatino Linotype" panose="02040502050505030304" pitchFamily="18" charset="0"/>
              </a:rPr>
              <a:t>Prioritising</a:t>
            </a:r>
            <a:r>
              <a:rPr lang="en-US" sz="3200" b="1" dirty="0">
                <a:latin typeface="Palatino Linotype" panose="02040502050505030304" pitchFamily="18" charset="0"/>
              </a:rPr>
              <a:t> Assumptions</a:t>
            </a:r>
          </a:p>
        </p:txBody>
      </p:sp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326028" y="675911"/>
          <a:ext cx="10562895" cy="547859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729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1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7828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Assumptions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Importance - </a:t>
                      </a:r>
                      <a:r>
                        <a:rPr lang="en-IN" sz="1400" dirty="0"/>
                        <a:t>If we get this wrong, how likely will we fail? </a:t>
                      </a:r>
                      <a:r>
                        <a:rPr lang="en-AU" sz="1400" dirty="0"/>
                        <a:t>(0 – 10)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Risk - </a:t>
                      </a:r>
                      <a:r>
                        <a:rPr lang="en-IN" sz="1400" dirty="0"/>
                        <a:t>How much do I really know about this? </a:t>
                      </a:r>
                      <a:r>
                        <a:rPr lang="en-AU" sz="1400" dirty="0"/>
                        <a:t>(0 – 10)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096">
                <a:tc>
                  <a:txBody>
                    <a:bodyPr/>
                    <a:lstStyle/>
                    <a:p>
                      <a:r>
                        <a:rPr lang="en-AU" sz="1800" dirty="0">
                          <a:latin typeface="Calibri"/>
                        </a:rPr>
                        <a:t>1. Do outpatient patients regularly experience long, unpredictable waits at hospital clinics?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" dirty="0"/>
                        <a:t>9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en-US" dirty="0"/>
                        <a:t>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09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800" dirty="0">
                          <a:latin typeface="Calibri"/>
                        </a:rPr>
                        <a:t>2. Are patients willing to use a mobile app instead of queuing in person for their turn?</a:t>
                      </a:r>
                      <a:endParaRPr lang="en-US" sz="18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en-US"/>
                        <a:t>6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09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/>
                        </a:rPr>
                        <a:t>3. Will hospital staff be willing to adopt and integrate a digital queue system into their process?</a:t>
                      </a:r>
                      <a:endParaRPr lang="en-AU" sz="180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/>
                        <a:t>9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/>
                        <a:t>7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096">
                <a:tc>
                  <a:txBody>
                    <a:bodyPr/>
                    <a:lstStyle/>
                    <a:p>
                      <a:r>
                        <a:rPr lang="en-AU" sz="1800" dirty="0">
                          <a:latin typeface="Calibri"/>
                        </a:rPr>
                        <a:t>4. Do most patients have a smartphone and reliable network to use the app?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/>
                        <a:t>6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/>
                        <a:t>4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096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5. Will patients trust the app's time slot enough to wait elsewhere instead of in the clinic?</a:t>
                      </a:r>
                      <a:endParaRPr lang="en-AU" sz="18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/>
                        <a:t>7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/>
                        <a:t>6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0096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6. Can the app keep queue estimates accurate despite unpredictable consultation lengths?</a:t>
                      </a:r>
                      <a:endParaRPr lang="en-AU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0096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0096">
                <a:tc>
                  <a:txBody>
                    <a:bodyPr/>
                    <a:lstStyle/>
                    <a:p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le 1"/>
          <p:cNvSpPr>
            <a:spLocks noGrp="1"/>
          </p:cNvSpPr>
          <p:nvPr>
            <p:ph type="title"/>
          </p:nvPr>
        </p:nvSpPr>
        <p:spPr>
          <a:xfrm>
            <a:off x="325776" y="228491"/>
            <a:ext cx="3870435" cy="71744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Palatino Linotype" panose="02040502050505030304" pitchFamily="18" charset="0"/>
              </a:rPr>
              <a:t>Risk Importance Graph</a:t>
            </a:r>
          </a:p>
        </p:txBody>
      </p:sp>
      <p:grpSp>
        <p:nvGrpSpPr>
          <p:cNvPr id="20" name="Group 27"/>
          <p:cNvGrpSpPr/>
          <p:nvPr/>
        </p:nvGrpSpPr>
        <p:grpSpPr>
          <a:xfrm>
            <a:off x="531984" y="478017"/>
            <a:ext cx="10588162" cy="6151492"/>
            <a:chOff x="342797" y="660681"/>
            <a:chExt cx="10588162" cy="6151492"/>
          </a:xfrm>
        </p:grpSpPr>
        <p:cxnSp>
          <p:nvCxnSpPr>
            <p:cNvPr id="3145728" name="Straight Arrow Connector 3"/>
            <p:cNvCxnSpPr>
              <a:cxnSpLocks/>
            </p:cNvCxnSpPr>
            <p:nvPr/>
          </p:nvCxnSpPr>
          <p:spPr>
            <a:xfrm>
              <a:off x="5922579" y="1030013"/>
              <a:ext cx="0" cy="541282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29" name="Straight Arrow Connector 9"/>
            <p:cNvCxnSpPr>
              <a:cxnSpLocks/>
            </p:cNvCxnSpPr>
            <p:nvPr/>
          </p:nvCxnSpPr>
          <p:spPr>
            <a:xfrm flipH="1">
              <a:off x="1555531" y="3694386"/>
              <a:ext cx="921231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48588" name="TextBox 16"/>
            <p:cNvSpPr txBox="1"/>
            <p:nvPr/>
          </p:nvSpPr>
          <p:spPr>
            <a:xfrm>
              <a:off x="1618593" y="3694386"/>
              <a:ext cx="3379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Avenir Book" panose="02000503020000020003" pitchFamily="2" charset="0"/>
                </a:rPr>
                <a:t>0</a:t>
              </a:r>
              <a:endParaRPr 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1048589" name="TextBox 17"/>
            <p:cNvSpPr txBox="1"/>
            <p:nvPr/>
          </p:nvSpPr>
          <p:spPr>
            <a:xfrm>
              <a:off x="5931480" y="1030013"/>
              <a:ext cx="3379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Avenir Book" panose="02000503020000020003" pitchFamily="2" charset="0"/>
                </a:rPr>
                <a:t>0</a:t>
              </a:r>
              <a:endParaRPr 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1048590" name="TextBox 18"/>
            <p:cNvSpPr txBox="1"/>
            <p:nvPr/>
          </p:nvSpPr>
          <p:spPr>
            <a:xfrm>
              <a:off x="10289628" y="3694386"/>
              <a:ext cx="4527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Avenir Book" panose="02000503020000020003" pitchFamily="2" charset="0"/>
                </a:rPr>
                <a:t>10</a:t>
              </a:r>
              <a:endParaRPr 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1048591" name="TextBox 19"/>
            <p:cNvSpPr txBox="1"/>
            <p:nvPr/>
          </p:nvSpPr>
          <p:spPr>
            <a:xfrm>
              <a:off x="5963009" y="6073510"/>
              <a:ext cx="4482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Avenir Book" panose="02000503020000020003" pitchFamily="2" charset="0"/>
                </a:rPr>
                <a:t>10</a:t>
              </a:r>
              <a:endParaRPr 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1048592" name="TextBox 20"/>
            <p:cNvSpPr txBox="1"/>
            <p:nvPr/>
          </p:nvSpPr>
          <p:spPr>
            <a:xfrm>
              <a:off x="5371401" y="6442841"/>
              <a:ext cx="10124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solidFill>
                    <a:schemeClr val="accent2"/>
                  </a:solidFill>
                  <a:latin typeface="Avenir Book" panose="02000503020000020003" pitchFamily="2" charset="0"/>
                </a:rPr>
                <a:t>Known</a:t>
              </a:r>
              <a:endParaRPr lang="en-US" dirty="0">
                <a:solidFill>
                  <a:schemeClr val="accent2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1048593" name="TextBox 21"/>
            <p:cNvSpPr txBox="1"/>
            <p:nvPr/>
          </p:nvSpPr>
          <p:spPr>
            <a:xfrm>
              <a:off x="5445375" y="660681"/>
              <a:ext cx="1153508" cy="3581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solidFill>
                    <a:schemeClr val="accent2"/>
                  </a:solidFill>
                  <a:latin typeface="Avenir Book" panose="02000503020000020003" pitchFamily="2" charset="0"/>
                </a:rPr>
                <a:t>Unknown</a:t>
              </a:r>
              <a:endParaRPr lang="en-US" dirty="0">
                <a:solidFill>
                  <a:schemeClr val="accent2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1048594" name="TextBox 22"/>
            <p:cNvSpPr txBox="1"/>
            <p:nvPr/>
          </p:nvSpPr>
          <p:spPr>
            <a:xfrm>
              <a:off x="9661435" y="4017579"/>
              <a:ext cx="1269524" cy="36933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IN" dirty="0">
                  <a:solidFill>
                    <a:schemeClr val="accent5">
                      <a:lumMod val="75000"/>
                    </a:schemeClr>
                  </a:solidFill>
                  <a:latin typeface="Avenir Book"/>
                </a:rPr>
                <a:t>Important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1048595" name="TextBox 23"/>
            <p:cNvSpPr txBox="1"/>
            <p:nvPr/>
          </p:nvSpPr>
          <p:spPr>
            <a:xfrm>
              <a:off x="342797" y="3244334"/>
              <a:ext cx="1528043" cy="6248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solidFill>
                    <a:schemeClr val="accent5">
                      <a:lumMod val="75000"/>
                    </a:schemeClr>
                  </a:solidFill>
                  <a:latin typeface="Avenir Book" panose="02000503020000020003" pitchFamily="2" charset="0"/>
                </a:rPr>
                <a:t>Not Important</a:t>
              </a:r>
              <a:endParaRPr lang="en-US" dirty="0">
                <a:solidFill>
                  <a:schemeClr val="accent5">
                    <a:lumMod val="75000"/>
                  </a:schemeClr>
                </a:solidFill>
                <a:latin typeface="Avenir Book" panose="02000503020000020003" pitchFamily="2" charset="0"/>
              </a:endParaRPr>
            </a:p>
          </p:txBody>
        </p:sp>
      </p:grpSp>
      <p:sp>
        <p:nvSpPr>
          <p:cNvPr id="1048596" name="TextBox 28"/>
          <p:cNvSpPr txBox="1"/>
          <p:nvPr/>
        </p:nvSpPr>
        <p:spPr>
          <a:xfrm>
            <a:off x="178276" y="6214010"/>
            <a:ext cx="1566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Avenir Book" panose="02000503020000020003" pitchFamily="2" charset="0"/>
              </a:rPr>
              <a:t>X axis - </a:t>
            </a:r>
            <a:r>
              <a:rPr lang="en-IN" sz="1200" dirty="0">
                <a:solidFill>
                  <a:schemeClr val="accent5">
                    <a:lumMod val="75000"/>
                  </a:schemeClr>
                </a:solidFill>
                <a:latin typeface="Avenir Book" panose="02000503020000020003" pitchFamily="2" charset="0"/>
              </a:rPr>
              <a:t>Importance</a:t>
            </a:r>
          </a:p>
          <a:p>
            <a:r>
              <a:rPr lang="en-IN" sz="1200" dirty="0">
                <a:latin typeface="Avenir Book" panose="02000503020000020003" pitchFamily="2" charset="0"/>
              </a:rPr>
              <a:t>Y axis - </a:t>
            </a:r>
            <a:r>
              <a:rPr lang="en-IN" sz="1200" dirty="0">
                <a:solidFill>
                  <a:schemeClr val="accent2">
                    <a:lumMod val="75000"/>
                  </a:schemeClr>
                </a:solidFill>
                <a:latin typeface="Avenir Book" panose="02000503020000020003" pitchFamily="2" charset="0"/>
              </a:rPr>
              <a:t>Risk</a:t>
            </a:r>
            <a:r>
              <a:rPr lang="en-IN" sz="1200" dirty="0">
                <a:latin typeface="Avenir Book" panose="02000503020000020003" pitchFamily="2" charset="0"/>
              </a:rPr>
              <a:t> 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1048598" name="Speech Bubble: Rectangle 32"/>
          <p:cNvSpPr/>
          <p:nvPr/>
        </p:nvSpPr>
        <p:spPr>
          <a:xfrm>
            <a:off x="9234424" y="2458965"/>
            <a:ext cx="1845616" cy="1213640"/>
          </a:xfrm>
          <a:prstGeom prst="wedgeRectCallou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>
                <a:ea typeface="Calibri"/>
                <a:cs typeface="Calibri"/>
              </a:rPr>
              <a:t>Are patients willing to use a mobile app instead of queuing in person for their turn?</a:t>
            </a:r>
            <a:endParaRPr lang="en-AU" sz="1200" dirty="0">
              <a:ea typeface="Calibri"/>
              <a:cs typeface="Calibri"/>
            </a:endParaRPr>
          </a:p>
        </p:txBody>
      </p:sp>
      <p:sp>
        <p:nvSpPr>
          <p:cNvPr id="1048599" name="Speech Bubble: Rectangle 33"/>
          <p:cNvSpPr/>
          <p:nvPr/>
        </p:nvSpPr>
        <p:spPr>
          <a:xfrm>
            <a:off x="6354389" y="1352766"/>
            <a:ext cx="1825556" cy="978341"/>
          </a:xfrm>
          <a:prstGeom prst="wedgeRectCallou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US" altLang="en" sz="1200" b="0" i="0" u="none" strike="noStrike" noProof="0" dirty="0">
                <a:solidFill>
                  <a:srgbClr val="000000"/>
                </a:solidFill>
                <a:latin typeface="Calibri"/>
              </a:rPr>
              <a:t>Will hospital staff be willing to adopt and integrate a digital queue system into their process?</a:t>
            </a:r>
            <a:endParaRPr lang="en-AU" sz="1200">
              <a:ea typeface="Calibri"/>
              <a:cs typeface="Calibri"/>
            </a:endParaRPr>
          </a:p>
        </p:txBody>
      </p:sp>
      <p:sp>
        <p:nvSpPr>
          <p:cNvPr id="1048600" name="Speech Bubble: Rectangle 35"/>
          <p:cNvSpPr/>
          <p:nvPr/>
        </p:nvSpPr>
        <p:spPr>
          <a:xfrm>
            <a:off x="5080303" y="2890290"/>
            <a:ext cx="2162772" cy="1150991"/>
          </a:xfrm>
          <a:prstGeom prst="wedgeRectCallou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US" sz="1200" dirty="0">
                <a:solidFill>
                  <a:schemeClr val="tx1"/>
                </a:solidFill>
                <a:ea typeface="Calibri"/>
                <a:cs typeface="Calibri"/>
              </a:rPr>
              <a:t>Will patients trust the app's time slot enough to wait elsewhere instead of in the clinic?</a:t>
            </a:r>
            <a:endParaRPr lang="en-AU" sz="12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048601" name="Speech Bubble: Rectangle 36"/>
          <p:cNvSpPr/>
          <p:nvPr/>
        </p:nvSpPr>
        <p:spPr>
          <a:xfrm>
            <a:off x="3590992" y="4098653"/>
            <a:ext cx="2377699" cy="899395"/>
          </a:xfrm>
          <a:prstGeom prst="wedgeRectCallou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US" sz="1200" b="0" dirty="0">
                <a:solidFill>
                  <a:schemeClr val="tx1"/>
                </a:solidFill>
              </a:rPr>
              <a:t>Do most patients have a smartphone and reliable network to use the app?</a:t>
            </a:r>
            <a:endParaRPr lang="en-AU" sz="12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048603" name="Speech Bubble: Rectangle 2"/>
          <p:cNvSpPr/>
          <p:nvPr/>
        </p:nvSpPr>
        <p:spPr>
          <a:xfrm>
            <a:off x="8707243" y="5281449"/>
            <a:ext cx="1910253" cy="698935"/>
          </a:xfrm>
          <a:prstGeom prst="wedgeRectCallou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ea typeface="Calibri"/>
                <a:cs typeface="Calibri"/>
              </a:rPr>
              <a:t>Do outpatient patients regularly experience long, unpredictable waits at hospital clinics?</a:t>
            </a:r>
          </a:p>
        </p:txBody>
      </p:sp>
      <p:sp>
        <p:nvSpPr>
          <p:cNvPr id="1048667" name="Speech Bubble: Rectangle 35"/>
          <p:cNvSpPr/>
          <p:nvPr/>
        </p:nvSpPr>
        <p:spPr>
          <a:xfrm>
            <a:off x="8009313" y="866293"/>
            <a:ext cx="1832143" cy="868721"/>
          </a:xfrm>
          <a:prstGeom prst="wedgeRectCallout">
            <a:avLst/>
          </a:prstGeom>
          <a:solidFill>
            <a:srgbClr val="FFFFFF"/>
          </a:solidFill>
          <a:ln w="12700" cap="flat" cmpd="sng" algn="ctr">
            <a:solidFill>
              <a:srgbClr val="5B9BD5"/>
            </a:solidFill>
            <a:prstDash val="solid"/>
            <a:miter lim="800000"/>
          </a:ln>
        </p:spPr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000000"/>
                </a:solidFill>
                <a:ea typeface="Calibri"/>
                <a:cs typeface="Calibri"/>
              </a:rPr>
              <a:t>Can the app keep queue estimates accurate despite unpredictable consultation lengths?</a:t>
            </a:r>
            <a:endParaRPr lang="en-AU" sz="1200" dirty="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Prioritising Assumptions</vt:lpstr>
      <vt:lpstr>Risk Importance Graph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Prioritising Assumptions</dc:title>
  <dc:creator>Evangel Afolabi</dc:creator>
  <cp:lastModifiedBy>oluwamayowa olasugba</cp:lastModifiedBy>
  <cp:revision>1</cp:revision>
  <dcterms:created xsi:type="dcterms:W3CDTF">2026-09-25T15:16:59Z</dcterms:created>
  <dcterms:modified xsi:type="dcterms:W3CDTF">2026-09-29T19:37:01Z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bc3d09e48ec74b7a9ac9cbddb2666bc6_23</vt:lpwstr>
  </property>
</Properties>
</file>