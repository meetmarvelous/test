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15" r:id="rId3"/>
    <p:sldId id="31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AE45-8B0B-FBD8-4DE2-CD7157406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A12D7-A468-79C7-7029-C675905C3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0F016-E2B4-C91B-623D-F8F2CAAD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3C4C1-7840-E0B8-367A-90F5A2E67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5A5A9-EC03-316C-5892-5810BEE4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5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EAD4-585A-4551-86D0-2224D8A6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E1C9-B83C-E71C-DAFE-EF889A9AF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261D-F7FF-0B0D-FBA0-8B21390E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CA0A9-36D5-2094-6D32-390623C6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02E7A-F984-0BC6-DB5F-EADE744F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6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4041-1DAB-BA42-FA90-140B7AC7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83382-34FF-FB80-F77E-593854753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F86AD-2F40-D0D7-0119-B0FA6D7F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A60CA-40F9-8206-59A0-E2EECFFE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28DFD-D802-EA0B-B982-51A3C1B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7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A807-3159-0972-6D14-3DDCCEA8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F2AE-1091-2E7C-D2A7-920EA66C1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2E848-C7AD-91B0-D55A-1EA3C1B68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A3D97-F0C1-2F7F-CCBB-23E204C6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49C81-E4DB-4981-8834-93965D1E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37E0E-0DEC-C581-63DD-68625350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9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C1ABF-7933-578F-2DBC-ECB54DA1E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3A59B-5912-EA4A-4424-77880FDCE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300B5-69E5-50CD-3C24-B37C6FD53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7145BE-6075-2E6A-3F54-FBE2B1B6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BC3E3-2B9E-BF49-039A-0902C655B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1F58A-FEBF-8BDB-2AD0-60F624D4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CE2BD-6B61-733F-09D5-1AEF781E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CAAE5-1503-5FC8-CC67-F9B03431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9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9195-565F-7E76-C9B2-588517DE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2E000-C3D1-C7A5-7A43-362E216B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CEB88-75A8-B808-1182-D3F3BE68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F7E17-8A55-71F3-0843-7313AE15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35F4F-AC0C-43B1-6E4C-CD313FA9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4ADD2-5B59-64FF-06EA-BD4812FA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C053B-3AA2-57B5-BE3F-59AD2588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9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6B4-F957-A1FF-89D2-227EAE8D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CC1B-F850-1074-10D9-F4B0409A6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0E7DD-C21A-324B-A674-427ABEBBC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9F405-4B7C-8C11-3C1E-D52A44BE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46FBA-8746-0E79-9335-82F10475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6E097-D11E-F449-0A13-354F5EB6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6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C71F-1B00-770B-942A-047B4E5E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F69AB-4DE6-8638-412F-C52F7D022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6B650-88D1-0900-0860-DF35355D0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87795-80A5-6718-EB4C-752166BD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2C412-C356-66A0-6CA7-B3C7FB05C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25AC9-2D5C-2929-D086-53F8590E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7EAF-00CA-1B06-D2B3-54A529606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BFF11-52F0-D9CC-C0D7-BEB2860A9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670ED-900F-8E5C-17FC-02417F73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F2412-4D85-3B4D-1695-AD18F1B8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BB56-DF3E-9664-67D9-D38FE942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3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07F04-754E-D0B7-6B4B-36DF8F774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9635B-3C2D-5421-CD17-503C2EF4B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4DFE0-5D52-560F-4B90-AD2C0A8F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5017A-6F94-28C1-D723-3C9269BF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58943-2529-EDD7-29B9-D05D08D7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7FE50-8FDE-3501-B7B3-DE045E7F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85CD6-B945-0DBF-B7E9-761254FDF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D24C-A3B5-CB0C-ED72-D592E9D59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7FC74-075D-3185-CA41-350BA449F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71B7A-4EC1-AD8D-0117-63EC09BA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09BDDB0-0658-B9FB-CC11-EF2E97F5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724" y="-3495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Palatino Linotype" panose="02040502050505030304" pitchFamily="18" charset="0"/>
              </a:rPr>
              <a:t>Prioritising</a:t>
            </a:r>
            <a:r>
              <a:rPr lang="en-US" sz="3200" b="1" dirty="0">
                <a:latin typeface="Palatino Linotype" panose="02040502050505030304" pitchFamily="18" charset="0"/>
              </a:rPr>
              <a:t> Assumptions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14CD97F-F556-DEFE-F35E-37B41269F6A2}"/>
              </a:ext>
            </a:extLst>
          </p:cNvPr>
          <p:cNvGraphicFramePr>
            <a:graphicFrameLocks noGrp="1"/>
          </p:cNvGraphicFramePr>
          <p:nvPr/>
        </p:nvGraphicFramePr>
        <p:xfrm>
          <a:off x="326028" y="675911"/>
          <a:ext cx="10562895" cy="61070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29654">
                  <a:extLst>
                    <a:ext uri="{9D8B030D-6E8A-4147-A177-3AD203B41FA5}">
                      <a16:colId xmlns:a16="http://schemas.microsoft.com/office/drawing/2014/main" val="4080436848"/>
                    </a:ext>
                  </a:extLst>
                </a:gridCol>
                <a:gridCol w="3021724">
                  <a:extLst>
                    <a:ext uri="{9D8B030D-6E8A-4147-A177-3AD203B41FA5}">
                      <a16:colId xmlns:a16="http://schemas.microsoft.com/office/drawing/2014/main" val="550144812"/>
                    </a:ext>
                  </a:extLst>
                </a:gridCol>
                <a:gridCol w="2811517">
                  <a:extLst>
                    <a:ext uri="{9D8B030D-6E8A-4147-A177-3AD203B41FA5}">
                      <a16:colId xmlns:a16="http://schemas.microsoft.com/office/drawing/2014/main" val="3649767789"/>
                    </a:ext>
                  </a:extLst>
                </a:gridCol>
              </a:tblGrid>
              <a:tr h="107782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Importance - </a:t>
                      </a:r>
                      <a:r>
                        <a:rPr lang="en-IN" sz="1400" dirty="0"/>
                        <a:t>If we get this wrong, how likely will we fail? </a:t>
                      </a:r>
                      <a:r>
                        <a:rPr lang="en-AU" sz="1400" dirty="0"/>
                        <a:t>(0 – 10)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Risk - </a:t>
                      </a:r>
                      <a:r>
                        <a:rPr lang="en-IN" sz="1400" dirty="0"/>
                        <a:t>How much do I really know about this? </a:t>
                      </a:r>
                      <a:r>
                        <a:rPr lang="en-AU" sz="1400" dirty="0"/>
                        <a:t>(0 – 10)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14460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alibri"/>
                        </a:rPr>
                        <a:t>1. </a:t>
                      </a:r>
                      <a:r>
                        <a:rPr lang="en-A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Are we targeting the right audience? Are there more audience outside our scope? </a:t>
                      </a:r>
                      <a:endParaRPr lang="en-AU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877824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latin typeface="Calibri"/>
                        </a:rPr>
                        <a:t>2. </a:t>
                      </a:r>
                      <a:r>
                        <a:rPr lang="en-A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Business travellers/ other travellers would prefer a to stay and pay per hour consumed rather than stay overnight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494941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alibri"/>
                        </a:rPr>
                        <a:t>3. </a:t>
                      </a:r>
                      <a:r>
                        <a:rPr lang="en-A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Are the accommodation service providers ready to adjust to micro-stay possibilities?</a:t>
                      </a:r>
                      <a:endParaRPr lang="en-AU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32731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alibri"/>
                        </a:rPr>
                        <a:t>4. </a:t>
                      </a:r>
                      <a:r>
                        <a:rPr lang="en-A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Customers sees it as a more affordable flexible option</a:t>
                      </a:r>
                      <a:endParaRPr lang="en-AU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208544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dirty="0"/>
                        <a:t>5. </a:t>
                      </a:r>
                      <a:r>
                        <a:rPr lang="en-A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Micro stays can be profitable for hotels and other accommodation providers</a:t>
                      </a:r>
                      <a:endParaRPr lang="en-AU" sz="18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848758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dirty="0"/>
                        <a:t>6.</a:t>
                      </a:r>
                      <a:r>
                        <a:rPr lang="en-AU" sz="1800" b="0" dirty="0">
                          <a:solidFill>
                            <a:schemeClr val="tx1"/>
                          </a:solidFill>
                        </a:rPr>
                        <a:t> </a:t>
                      </a:r>
                      <a:r>
                        <a:rPr lang="en-A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Micro stay guests would get unique and specially tailored experience</a:t>
                      </a:r>
                      <a:endParaRPr lang="en-AU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28607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dirty="0"/>
                        <a:t>7.</a:t>
                      </a:r>
                      <a:r>
                        <a:rPr lang="en-AU" sz="1800" b="0" dirty="0">
                          <a:solidFill>
                            <a:schemeClr val="tx1"/>
                          </a:solidFill>
                        </a:rPr>
                        <a:t> </a:t>
                      </a:r>
                      <a:r>
                        <a:rPr lang="en-A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What are the challenges of operating a micro stay business?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53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34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16CA-5494-B74A-BBB0-EADECD300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76" y="228491"/>
            <a:ext cx="3870435" cy="71744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Risk Importance Graph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94D8B3-04A8-EC94-F54D-0B9B90C33ECF}"/>
              </a:ext>
            </a:extLst>
          </p:cNvPr>
          <p:cNvGrpSpPr/>
          <p:nvPr/>
        </p:nvGrpSpPr>
        <p:grpSpPr>
          <a:xfrm>
            <a:off x="531984" y="478017"/>
            <a:ext cx="10588162" cy="6151492"/>
            <a:chOff x="342797" y="660681"/>
            <a:chExt cx="10588162" cy="615149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0F67D2F-F97B-829F-4405-EB116E40B396}"/>
                </a:ext>
              </a:extLst>
            </p:cNvPr>
            <p:cNvCxnSpPr>
              <a:cxnSpLocks/>
            </p:cNvCxnSpPr>
            <p:nvPr/>
          </p:nvCxnSpPr>
          <p:spPr>
            <a:xfrm>
              <a:off x="5922579" y="1030013"/>
              <a:ext cx="0" cy="541282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96B2AD4-81B4-4ED5-E414-261C002A3C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5531" y="3694386"/>
              <a:ext cx="9212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FD8464-E388-9E66-D8CE-3761FAC90F10}"/>
                </a:ext>
              </a:extLst>
            </p:cNvPr>
            <p:cNvSpPr txBox="1"/>
            <p:nvPr/>
          </p:nvSpPr>
          <p:spPr>
            <a:xfrm>
              <a:off x="1618593" y="3694386"/>
              <a:ext cx="337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EB20AA-FBF2-D123-AA14-054EBE1F3102}"/>
                </a:ext>
              </a:extLst>
            </p:cNvPr>
            <p:cNvSpPr txBox="1"/>
            <p:nvPr/>
          </p:nvSpPr>
          <p:spPr>
            <a:xfrm>
              <a:off x="5931480" y="1030013"/>
              <a:ext cx="337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748623-64E1-20A4-BEBD-0F75E1B7ED61}"/>
                </a:ext>
              </a:extLst>
            </p:cNvPr>
            <p:cNvSpPr txBox="1"/>
            <p:nvPr/>
          </p:nvSpPr>
          <p:spPr>
            <a:xfrm>
              <a:off x="10289628" y="3694386"/>
              <a:ext cx="452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10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9D7F97-7BC6-1022-1428-A981CD44ED0F}"/>
                </a:ext>
              </a:extLst>
            </p:cNvPr>
            <p:cNvSpPr txBox="1"/>
            <p:nvPr/>
          </p:nvSpPr>
          <p:spPr>
            <a:xfrm>
              <a:off x="5963009" y="6073510"/>
              <a:ext cx="4482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10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7650F32-0268-17E5-AA91-54187EDE6A3F}"/>
                </a:ext>
              </a:extLst>
            </p:cNvPr>
            <p:cNvSpPr txBox="1"/>
            <p:nvPr/>
          </p:nvSpPr>
          <p:spPr>
            <a:xfrm>
              <a:off x="5371401" y="6442841"/>
              <a:ext cx="10124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2"/>
                  </a:solidFill>
                  <a:latin typeface="Avenir Book" panose="02000503020000020003" pitchFamily="2" charset="0"/>
                </a:rPr>
                <a:t>Known</a:t>
              </a:r>
              <a:endParaRPr lang="en-US" dirty="0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053416-199C-E345-05FB-7875AD238015}"/>
                </a:ext>
              </a:extLst>
            </p:cNvPr>
            <p:cNvSpPr txBox="1"/>
            <p:nvPr/>
          </p:nvSpPr>
          <p:spPr>
            <a:xfrm>
              <a:off x="5445375" y="660681"/>
              <a:ext cx="11535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2"/>
                  </a:solidFill>
                  <a:latin typeface="Avenir Book" panose="02000503020000020003" pitchFamily="2" charset="0"/>
                </a:rPr>
                <a:t>Unknown</a:t>
              </a:r>
              <a:endParaRPr lang="en-US" dirty="0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73CAB3-D81E-AD72-8546-02A68552EEA6}"/>
                </a:ext>
              </a:extLst>
            </p:cNvPr>
            <p:cNvSpPr txBox="1"/>
            <p:nvPr/>
          </p:nvSpPr>
          <p:spPr>
            <a:xfrm>
              <a:off x="9661435" y="4017579"/>
              <a:ext cx="1269524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dirty="0">
                  <a:solidFill>
                    <a:schemeClr val="accent5">
                      <a:lumMod val="75000"/>
                    </a:schemeClr>
                  </a:solidFill>
                  <a:latin typeface="Avenir Book"/>
                </a:rPr>
                <a:t>Important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4B07F5-1580-EC52-E103-54FF694BBD4E}"/>
                </a:ext>
              </a:extLst>
            </p:cNvPr>
            <p:cNvSpPr txBox="1"/>
            <p:nvPr/>
          </p:nvSpPr>
          <p:spPr>
            <a:xfrm>
              <a:off x="342797" y="3244334"/>
              <a:ext cx="15280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5">
                      <a:lumMod val="75000"/>
                    </a:schemeClr>
                  </a:solidFill>
                  <a:latin typeface="Avenir Book" panose="02000503020000020003" pitchFamily="2" charset="0"/>
                </a:rPr>
                <a:t>Not Important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3A3B67-5BAE-4BBD-4DAF-8E3293576765}"/>
              </a:ext>
            </a:extLst>
          </p:cNvPr>
          <p:cNvSpPr txBox="1"/>
          <p:nvPr/>
        </p:nvSpPr>
        <p:spPr>
          <a:xfrm>
            <a:off x="178276" y="6214010"/>
            <a:ext cx="1566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Avenir Book" panose="02000503020000020003" pitchFamily="2" charset="0"/>
              </a:rPr>
              <a:t>X axis - 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rPr>
              <a:t>Importance</a:t>
            </a:r>
          </a:p>
          <a:p>
            <a:r>
              <a:rPr lang="en-IN" sz="1200" dirty="0">
                <a:latin typeface="Avenir Book" panose="02000503020000020003" pitchFamily="2" charset="0"/>
              </a:rPr>
              <a:t>Y axis - </a:t>
            </a:r>
            <a:r>
              <a:rPr lang="en-IN" sz="1200" dirty="0">
                <a:solidFill>
                  <a:schemeClr val="accent2">
                    <a:lumMod val="75000"/>
                  </a:schemeClr>
                </a:solidFill>
                <a:latin typeface="Avenir Book" panose="02000503020000020003" pitchFamily="2" charset="0"/>
              </a:rPr>
              <a:t>Risk</a:t>
            </a:r>
            <a:r>
              <a:rPr lang="en-IN" sz="1200" dirty="0">
                <a:latin typeface="Avenir Book" panose="02000503020000020003" pitchFamily="2" charset="0"/>
              </a:rPr>
              <a:t> 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C61DF056-2C02-A344-4D44-4A4576FB0A99}"/>
              </a:ext>
            </a:extLst>
          </p:cNvPr>
          <p:cNvSpPr/>
          <p:nvPr/>
        </p:nvSpPr>
        <p:spPr>
          <a:xfrm>
            <a:off x="7608980" y="968743"/>
            <a:ext cx="2081047" cy="790899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AU" sz="1200" dirty="0"/>
              <a:t>Customers sees it as a more affordable </a:t>
            </a:r>
            <a:r>
              <a:rPr lang="en-AU" sz="1200" dirty="0">
                <a:ea typeface="Calibri"/>
                <a:cs typeface="Calibri"/>
              </a:rPr>
              <a:t>flexible option</a:t>
            </a:r>
          </a:p>
          <a:p>
            <a:pPr algn="ctr"/>
            <a:endParaRPr lang="en-AU" sz="1200" dirty="0">
              <a:ea typeface="Calibri"/>
              <a:cs typeface="Calibri"/>
            </a:endParaRPr>
          </a:p>
          <a:p>
            <a:pPr algn="ctr"/>
            <a:endParaRPr lang="en-AU" sz="1200" dirty="0">
              <a:ea typeface="Calibri"/>
              <a:cs typeface="Calibri"/>
            </a:endParaRP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D76CE4F1-C940-9197-5E82-98F3CEE55961}"/>
              </a:ext>
            </a:extLst>
          </p:cNvPr>
          <p:cNvSpPr/>
          <p:nvPr/>
        </p:nvSpPr>
        <p:spPr>
          <a:xfrm>
            <a:off x="3949165" y="1715305"/>
            <a:ext cx="1542391" cy="1014245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AU" sz="1200" dirty="0"/>
              <a:t>Are we targeting the right audience? Are there more audience outside our scope? </a:t>
            </a:r>
            <a:endParaRPr lang="en-AU" sz="1200" dirty="0">
              <a:ea typeface="Calibri"/>
              <a:cs typeface="Calibri"/>
            </a:endParaRPr>
          </a:p>
          <a:p>
            <a:pPr algn="ctr"/>
            <a:endParaRPr lang="en-AU" sz="1200" dirty="0">
              <a:ea typeface="Calibri"/>
              <a:cs typeface="Calibri"/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DA72B566-6F0C-5515-1DF4-7187C51F3BB0}"/>
              </a:ext>
            </a:extLst>
          </p:cNvPr>
          <p:cNvSpPr/>
          <p:nvPr/>
        </p:nvSpPr>
        <p:spPr>
          <a:xfrm>
            <a:off x="8965228" y="1437075"/>
            <a:ext cx="1844563" cy="1040520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AU" sz="1200" dirty="0"/>
              <a:t>Business travellers/ other travellers would prefer a to stay and pay per hour consumed rather than stay overnight</a:t>
            </a:r>
            <a:endParaRPr lang="en-AU" sz="1200">
              <a:ea typeface="Calibri"/>
              <a:cs typeface="Calibri"/>
            </a:endParaRPr>
          </a:p>
          <a:p>
            <a:pPr algn="ctr"/>
            <a:endParaRPr lang="en-AU" sz="700" dirty="0">
              <a:ea typeface="Calibri"/>
              <a:cs typeface="Calibri"/>
            </a:endParaRP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1BDF1A95-DC12-6F2D-B888-25CFCCCF9A09}"/>
              </a:ext>
            </a:extLst>
          </p:cNvPr>
          <p:cNvSpPr/>
          <p:nvPr/>
        </p:nvSpPr>
        <p:spPr>
          <a:xfrm>
            <a:off x="9530157" y="530556"/>
            <a:ext cx="1792012" cy="869728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AU" sz="1200" dirty="0"/>
              <a:t>Are the accommodation service providers ready to adjust to micro-stay possibilities?</a:t>
            </a:r>
            <a:endParaRPr lang="en-AU" sz="1200" dirty="0">
              <a:ea typeface="Calibri"/>
              <a:cs typeface="Calibri"/>
            </a:endParaRP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7A81438F-0B37-4235-A1FD-0BAD9A9E17AE}"/>
              </a:ext>
            </a:extLst>
          </p:cNvPr>
          <p:cNvSpPr/>
          <p:nvPr/>
        </p:nvSpPr>
        <p:spPr>
          <a:xfrm>
            <a:off x="7165384" y="2348439"/>
            <a:ext cx="1713184" cy="869728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AU" sz="1200" dirty="0">
                <a:solidFill>
                  <a:schemeClr val="tx1"/>
                </a:solidFill>
              </a:rPr>
              <a:t>What are the challenges of operating a micro stay business?</a:t>
            </a:r>
            <a:endParaRPr lang="en-AU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AU" sz="1200" dirty="0">
              <a:ea typeface="Calibri"/>
              <a:cs typeface="Calibri"/>
            </a:endParaRP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74A2429E-D0A1-8DDD-2B7F-6C58ABAC55A8}"/>
              </a:ext>
            </a:extLst>
          </p:cNvPr>
          <p:cNvSpPr/>
          <p:nvPr/>
        </p:nvSpPr>
        <p:spPr>
          <a:xfrm>
            <a:off x="8437135" y="4603159"/>
            <a:ext cx="1989080" cy="790900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AU" sz="1200" dirty="0">
                <a:solidFill>
                  <a:schemeClr val="tx1"/>
                </a:solidFill>
              </a:rPr>
              <a:t>Micro stays can be profitable for hotels and other accommodation providers</a:t>
            </a:r>
            <a:endParaRPr lang="en-AU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AU" sz="1200" dirty="0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5B5F3-1FB3-43D3-5610-9981D0437F5B}"/>
              </a:ext>
            </a:extLst>
          </p:cNvPr>
          <p:cNvSpPr txBox="1"/>
          <p:nvPr/>
        </p:nvSpPr>
        <p:spPr>
          <a:xfrm>
            <a:off x="1004247" y="4196303"/>
            <a:ext cx="4201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Plot your assumptions from the previous slide in this graph. You can move the boxes around and create new ones by copying them. </a:t>
            </a:r>
            <a:b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b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DELETE THIS BOX AFTER READING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154D1B04-1EDD-34B2-5150-10C179B44118}"/>
              </a:ext>
            </a:extLst>
          </p:cNvPr>
          <p:cNvSpPr/>
          <p:nvPr/>
        </p:nvSpPr>
        <p:spPr>
          <a:xfrm>
            <a:off x="3289693" y="3215543"/>
            <a:ext cx="1910253" cy="698935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Micro stay guests would get unique and specially tailored experience</a:t>
            </a: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36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880B-516B-5DD5-A25B-998DFC48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ABE71-5530-2048-80DD-571E05BA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Submit your customer problem in an HTML document with styles and images.</a:t>
            </a:r>
          </a:p>
        </p:txBody>
      </p:sp>
    </p:spTree>
    <p:extLst>
      <p:ext uri="{BB962C8B-B14F-4D97-AF65-F5344CB8AC3E}">
        <p14:creationId xmlns:p14="http://schemas.microsoft.com/office/powerpoint/2010/main" val="308433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307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Avenir Book</vt:lpstr>
      <vt:lpstr>Calibri</vt:lpstr>
      <vt:lpstr>Calibri Light</vt:lpstr>
      <vt:lpstr>Palatino Linotype</vt:lpstr>
      <vt:lpstr>Office Theme</vt:lpstr>
      <vt:lpstr>Prioritising Assumptions</vt:lpstr>
      <vt:lpstr>Risk Importance Graph</vt:lpstr>
      <vt:lpstr>Assignment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Evangel Afolabi</dc:creator>
  <cp:lastModifiedBy>Evangel Afolabi</cp:lastModifiedBy>
  <cp:revision>1</cp:revision>
  <dcterms:created xsi:type="dcterms:W3CDTF">2026-09-25T21:16:59Z</dcterms:created>
  <dcterms:modified xsi:type="dcterms:W3CDTF">2026-09-25T21:31:25Z</dcterms:modified>
</cp:coreProperties>
</file>